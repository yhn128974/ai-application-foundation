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5" r:id="rId4"/>
    <p:sldMasterId id="2147483657" r:id="rId5"/>
    <p:sldMasterId id="2147483659" r:id="rId6"/>
    <p:sldMasterId id="2147483663" r:id="rId7"/>
    <p:sldMasterId id="2147483690" r:id="rId8"/>
  </p:sldMasterIdLst>
  <p:notesMasterIdLst>
    <p:notesMasterId r:id="rId47"/>
  </p:notesMasterIdLst>
  <p:handoutMasterIdLst>
    <p:handoutMasterId r:id="rId48"/>
  </p:handoutMasterIdLst>
  <p:sldIdLst>
    <p:sldId id="1031" r:id="rId9"/>
    <p:sldId id="463" r:id="rId10"/>
    <p:sldId id="1061" r:id="rId11"/>
    <p:sldId id="1049" r:id="rId12"/>
    <p:sldId id="1062" r:id="rId13"/>
    <p:sldId id="1063" r:id="rId14"/>
    <p:sldId id="1064" r:id="rId15"/>
    <p:sldId id="1065" r:id="rId16"/>
    <p:sldId id="1066" r:id="rId17"/>
    <p:sldId id="1067" r:id="rId18"/>
    <p:sldId id="899" r:id="rId19"/>
    <p:sldId id="1068" r:id="rId20"/>
    <p:sldId id="1074" r:id="rId21"/>
    <p:sldId id="1075" r:id="rId22"/>
    <p:sldId id="1076" r:id="rId23"/>
    <p:sldId id="1077" r:id="rId24"/>
    <p:sldId id="1078" r:id="rId25"/>
    <p:sldId id="1079" r:id="rId26"/>
    <p:sldId id="1080" r:id="rId27"/>
    <p:sldId id="1069" r:id="rId28"/>
    <p:sldId id="1081" r:id="rId29"/>
    <p:sldId id="1082" r:id="rId30"/>
    <p:sldId id="1083" r:id="rId31"/>
    <p:sldId id="1088" r:id="rId32"/>
    <p:sldId id="1089" r:id="rId33"/>
    <p:sldId id="1091" r:id="rId34"/>
    <p:sldId id="1101" r:id="rId35"/>
    <p:sldId id="1070" r:id="rId36"/>
    <p:sldId id="1092" r:id="rId37"/>
    <p:sldId id="1093" r:id="rId38"/>
    <p:sldId id="1094" r:id="rId39"/>
    <p:sldId id="1071" r:id="rId40"/>
    <p:sldId id="1096" r:id="rId41"/>
    <p:sldId id="1097" r:id="rId42"/>
    <p:sldId id="1098" r:id="rId43"/>
    <p:sldId id="1099" r:id="rId44"/>
    <p:sldId id="1100" r:id="rId45"/>
    <p:sldId id="264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mart" initials="s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D9D9D9"/>
    <a:srgbClr val="AD2B26"/>
    <a:srgbClr val="FFFFE4"/>
    <a:srgbClr val="49504F"/>
    <a:srgbClr val="B70006"/>
    <a:srgbClr val="919191"/>
    <a:srgbClr val="333333"/>
    <a:srgbClr val="FFFFFF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0" autoAdjust="0"/>
    <p:restoredTop sz="95196" autoAdjust="0"/>
  </p:normalViewPr>
  <p:slideViewPr>
    <p:cSldViewPr snapToGrid="0">
      <p:cViewPr varScale="1">
        <p:scale>
          <a:sx n="94" d="100"/>
          <a:sy n="94" d="100"/>
        </p:scale>
        <p:origin x="59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659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Master" Target="slideMasters/slideMaster4.xml"/><Relationship Id="rId49" Type="http://schemas.openxmlformats.org/officeDocument/2006/relationships/presProps" Target="presProps.xml"/><Relationship Id="rId48" Type="http://schemas.openxmlformats.org/officeDocument/2006/relationships/handoutMaster" Target="handoutMasters/handoutMaster1.xml"/><Relationship Id="rId47" Type="http://schemas.openxmlformats.org/officeDocument/2006/relationships/notesMaster" Target="notesMasters/notesMaster1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8" Type="http://schemas.openxmlformats.org/officeDocument/2006/relationships/theme" Target="../theme/theme6.xml"/><Relationship Id="rId27" Type="http://schemas.openxmlformats.org/officeDocument/2006/relationships/image" Target="../media/image7.png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198190" y="291963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</a:t>
            </a:r>
            <a:r>
              <a:rPr lang="zh-CN" altLang="en-US" sz="210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，用更短的时间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高级数字化人才培训专家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/>
        </p:nvSpPr>
        <p:spPr>
          <a:xfrm>
            <a:off x="825500" y="2082165"/>
            <a:ext cx="10541000" cy="1603375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7200" b="0" i="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6096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2192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8288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438400" algn="ctr" rtl="0" fontAlgn="base">
              <a:spcBef>
                <a:spcPct val="0"/>
              </a:spcBef>
              <a:spcAft>
                <a:spcPct val="0"/>
              </a:spcAft>
              <a:defRPr sz="5865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indent="0" latinLnBrk="0">
              <a:lnSpc>
                <a:spcPct val="150000"/>
              </a:lnSpc>
            </a:pPr>
            <a:r>
              <a:rPr lang="en-US" sz="6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rPr>
              <a:t>Python</a:t>
            </a:r>
            <a:r>
              <a:rPr lang="zh-CN" altLang="en-US" sz="6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rPr>
              <a:t>数据分析三剑客</a:t>
            </a:r>
            <a:br>
              <a:rPr sz="66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rPr>
            </a:br>
            <a:r>
              <a:rPr sz="2800" dirty="0">
                <a:solidFill>
                  <a:srgbClr val="AD2A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</a:rPr>
              <a:t>数据分析的</a:t>
            </a:r>
            <a:r>
              <a:rPr lang="zh-CN" sz="2800" dirty="0">
                <a:solidFill>
                  <a:srgbClr val="AD2A2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阿里巴巴普惠体 2.0 55 Regular" panose="00020600040101010101" charset="-122"/>
                <a:ea typeface="阿里巴巴普惠体 2.0 55 Regular" panose="00020600040101010101" charset="-122"/>
                <a:cs typeface="阿里巴巴普惠体 2.0 55 Regular" panose="00020600040101010101" charset="-122"/>
                <a:sym typeface="+mn-ea"/>
              </a:rPr>
              <a:t>核心技能</a:t>
            </a:r>
            <a:endParaRPr sz="2800" dirty="0">
              <a:solidFill>
                <a:srgbClr val="AD2A2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阿里巴巴普惠体 2.0 55 Regular" panose="00020600040101010101" charset="-122"/>
              <a:ea typeface="阿里巴巴普惠体 2.0 55 Regular" panose="00020600040101010101" charset="-122"/>
              <a:cs typeface="阿里巴巴普惠体 2.0 55 Regular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数据分析三剑客</a:t>
            </a:r>
            <a:endParaRPr kumimoji="1" lang="zh-CN" altLang="en-US" dirty="0"/>
          </a:p>
          <a:p>
            <a:r>
              <a:rPr kumimoji="1" lang="en-US" dirty="0">
                <a:sym typeface="+mn-ea"/>
              </a:rPr>
              <a:t>Numpy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ym typeface="+mn-ea"/>
              </a:rPr>
              <a:t>Pandas</a:t>
            </a:r>
            <a:endParaRPr kumimoji="1" lang="en-US" dirty="0">
              <a:sym typeface="+mn-ea"/>
            </a:endParaRPr>
          </a:p>
          <a:p>
            <a:r>
              <a:rPr kumimoji="1" lang="en-US" dirty="0"/>
              <a:t>Matplotlib</a:t>
            </a:r>
            <a:endParaRPr kumimoji="1" lang="en-US" dirty="0"/>
          </a:p>
          <a:p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数据分析三剑客</a:t>
            </a:r>
            <a:endParaRPr kumimoji="1" lang="zh-CN" altLang="en-US" dirty="0">
              <a:solidFill>
                <a:srgbClr val="C00000"/>
              </a:solidFill>
            </a:endParaRPr>
          </a:p>
          <a:p>
            <a:r>
              <a:rPr kumimoji="1" lang="en-US" dirty="0">
                <a:sym typeface="+mn-ea"/>
              </a:rPr>
              <a:t>Numpy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ym typeface="+mn-ea"/>
              </a:rPr>
              <a:t>Pandas</a:t>
            </a:r>
            <a:endParaRPr kumimoji="1" lang="en-US" dirty="0">
              <a:sym typeface="+mn-ea"/>
            </a:endParaRPr>
          </a:p>
          <a:p>
            <a:r>
              <a:rPr kumimoji="1" lang="en-US" dirty="0"/>
              <a:t>Matplotlib</a:t>
            </a:r>
            <a:endParaRPr kumimoji="1" lang="en-US" dirty="0"/>
          </a:p>
          <a:p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</a:t>
            </a:r>
            <a:endParaRPr 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数据分析领域，有三个不可或缺的核心库，被称为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数据分析三剑客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NumPy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：数值计算基础库，提供高性能的多维数组对象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Pandas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：数据处理和分析库，提供强大的数据结构和数据分析工具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Matplotlib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：数据可视化库，提供丰富的绘图功能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数据分析三剑客之一</a:t>
            </a:r>
            <a:r>
              <a:rPr lang="en-US" altLang="zh-CN" sz="1800"/>
              <a:t>Numpy</a:t>
            </a:r>
            <a:endParaRPr lang="en-US" alt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NumPy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Numerical 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）是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科学计算的基础包，它提供了：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快速高效的多维数组对象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ndarray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用于对数组执行元素级计算以及直接对数组执行数学运算的函数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用于读写硬盘上基于数组的数据集的工具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线性代数运算、傅里叶变换，以及随机数生成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用于将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C++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Fortran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代码集成到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的工具</a:t>
            </a: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NumPy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的特点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高效的数组运算：比纯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代码快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10-100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倍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丰富的数学函数：支持大量的数学运算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广播功能：不同形状的数组之间的数学运算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底层语言实现：核心代码用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语言编写，执行效率高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数据分析三剑客之一</a:t>
            </a:r>
            <a:r>
              <a:rPr lang="en-US" altLang="zh-CN" sz="1800"/>
              <a:t>Pandas</a:t>
            </a:r>
            <a:endParaRPr lang="en-US" alt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Pandas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Pandas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是基于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构建的库，为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编程语言提供了快速、强大、灵活且易于使用的数据结构和数据分析工具。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Pandas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的核心数据结构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Series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：一维带标签数组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DataFrame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：二维表格型数据结构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endParaRPr lang="en-US" altLang="zh-CN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Pandas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的主要功能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数据清洗和准备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数据整理和转换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数据分析和建模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数据可视化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数据分析三剑客之一</a:t>
            </a:r>
            <a:r>
              <a:rPr lang="en-US" altLang="zh-CN" sz="1800"/>
              <a:t>Matplotlib</a:t>
            </a:r>
            <a:endParaRPr lang="en-US" alt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什么是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Matplotlib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Matplotlib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最著名的绘图库，它提供了一整套和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MATLAB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类似的绘图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，非常适合交互式绘图。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Matplotlib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的特点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丰富的图表类型：线图、散点图、柱状图、饼图等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高度可定制：可以控制图表的每一个细节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多种输出格式：支持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PNG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PDF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SVG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等格式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与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兼容：支持在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IPython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环境中交互式绘图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数据分析三剑客之依赖关系</a:t>
            </a:r>
            <a:endParaRPr lang="en-US" alt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Pandas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Matplotlib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三者构成了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Python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数据分析的完整技术栈，它们之间存在着清晰的层次依赖关系：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是基础层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提供了高效的多维数组（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ndarray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）对象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Pandas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和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Matplotlib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的底层依赖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负责数值计算和数组操作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Pandas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是数据处理层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基于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NumPy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构建，使用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NumPy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数组作为底层存储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提供了更高级的数据结构（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Series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专注于数据清洗、整理和分析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Matplotlib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是可视化层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依赖于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NumPy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的数据结构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能够直接处理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Pandas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的数据对象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负责将数据转化为直观的图表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数据分析三剑客之互补关系</a:t>
            </a:r>
            <a:endParaRPr lang="en-US" alt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三者各司其职，形成了完整的数据分析工作流：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 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数值计算引擎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核心功能：数学运算、线性代数、随机数生成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数据格式：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ndarray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多维数组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优势：计算效率高，内存占用少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Pandas 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数据处理工具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核心功能：数据清洗、转换、聚合、分析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数据格式：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Series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（一维）、</a:t>
            </a: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DataFrame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（二维）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优势：数据操作便捷，支持缺失值处理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Matplotlib -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可视化平台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核心功能：图表绘制、图形定制、结果展示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输出形式：静态图片、交互式图表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457200" lvl="1" indent="0">
              <a:buNone/>
            </a:pPr>
            <a:r>
              <a:rPr lang="en-US" altLang="zh-CN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</a:t>
            </a:r>
            <a:r>
              <a:rPr lang="zh-CN" altLang="en-US" sz="14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优势：图表类型丰富，定制化程度高</a:t>
            </a:r>
            <a:endParaRPr lang="zh-CN" altLang="en-US" sz="14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数据分析三剑客入门示例</a:t>
            </a:r>
            <a:endParaRPr lang="zh-CN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778510" y="1544320"/>
            <a:ext cx="9882505" cy="485648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三者的典型工作流程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matplotlib.pyplot as plt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注意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新版本需要指定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matplotlib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TkAgg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作为图形后端来渲染和显示图表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matplotlib.use('TkAgg')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NumPy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：数据生成和处理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 = np.random.randn(100, 3)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Pandas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：数据整理和分析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pd.DataFrame(data, columns=['A', 'B', 'C'])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summary = df.describe()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Matplotlib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：数据可视化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df.plot(kind='hist', alpha=0.5)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plt.show()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4635500" y="992505"/>
            <a:ext cx="6985635" cy="4873625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/>
              <a:t>python</a:t>
            </a:r>
            <a:r>
              <a:rPr lang="zh-CN" altLang="en-US" b="1"/>
              <a:t>数据分析三剑客是什么以及各自功能？</a:t>
            </a:r>
            <a:endParaRPr lang="en-US" altLang="zh-CN" b="1"/>
          </a:p>
          <a:p>
            <a:pPr marL="0" indent="457200">
              <a:buNone/>
            </a:pPr>
            <a:r>
              <a:rPr lang="en-US" altLang="zh-CN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NumPy</a:t>
            </a:r>
            <a:r>
              <a:rPr lang="zh-CN" altLang="en-US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：数值计算基础库，提供高性能的多维数组对象</a:t>
            </a:r>
            <a:endParaRPr lang="zh-CN" altLang="en-US" sz="16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Pandas</a:t>
            </a:r>
            <a:r>
              <a:rPr lang="zh-CN" altLang="en-US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：数据处理和分析库，提供强大的数据结构和数据分析工具</a:t>
            </a:r>
            <a:endParaRPr lang="zh-CN" altLang="en-US" sz="16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r>
              <a:rPr lang="en-US" altLang="zh-CN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- Matplotlib</a:t>
            </a:r>
            <a:r>
              <a:rPr lang="zh-CN" altLang="en-US" sz="160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：数据可视化库，提供丰富的绘图功能</a:t>
            </a:r>
            <a:endParaRPr lang="zh-CN" altLang="en-US" sz="160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457200">
              <a:buNone/>
            </a:pPr>
            <a:endParaRPr lang="en-US" altLang="zh-CN" sz="1600" b="0">
              <a:solidFill>
                <a:srgbClr val="B700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数据分析三剑客</a:t>
            </a:r>
            <a:endParaRPr kumimoji="1" lang="zh-CN" altLang="en-US" dirty="0"/>
          </a:p>
          <a:p>
            <a:r>
              <a:rPr kumimoji="1" lang="en-US" dirty="0">
                <a:solidFill>
                  <a:srgbClr val="C00000"/>
                </a:solidFill>
                <a:sym typeface="+mn-ea"/>
              </a:rPr>
              <a:t>Numpy</a:t>
            </a:r>
            <a:endParaRPr kumimoji="1" lang="en-US" dirty="0">
              <a:solidFill>
                <a:srgbClr val="C00000"/>
              </a:solidFill>
              <a:sym typeface="+mn-ea"/>
            </a:endParaRPr>
          </a:p>
          <a:p>
            <a:r>
              <a:rPr kumimoji="1" lang="en-US" dirty="0">
                <a:sym typeface="+mn-ea"/>
              </a:rPr>
              <a:t>Pandas</a:t>
            </a:r>
            <a:endParaRPr kumimoji="1" lang="en-US" dirty="0">
              <a:sym typeface="+mn-ea"/>
            </a:endParaRPr>
          </a:p>
          <a:p>
            <a:r>
              <a:rPr kumimoji="1" lang="en-US" dirty="0"/>
              <a:t>Matplotlib</a:t>
            </a:r>
            <a:endParaRPr kumimoji="1" lang="en-US" dirty="0"/>
          </a:p>
          <a:p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</a:t>
            </a:r>
            <a:r>
              <a:rPr lang="zh-CN" altLang="en-US" sz="1800"/>
              <a:t>安装和导入</a:t>
            </a:r>
            <a:endParaRPr lang="zh-CN" altLang="en-US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pip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pip install numpy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conda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conda install numpy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r>
              <a: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numpy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numpy as np  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惯例缩写为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np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数组创建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从列表创建数组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arr1 = np.array([1, 2, 3, 4, 5])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一维数组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arr1)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arr2 = np.array([[1, 2, 3], [4, 5, 6]])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二维数组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arr2)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创建特殊数组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zeros_arr = np.zeros((3, 4))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zeros_arr)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ones_arr = np.ones((2, 3))  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ones_arr)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480175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创建序列数组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range_arr = np.arange(0, 10, 2) # 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，步长为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2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范围数组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range_arr)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linspace_arr = np.linspace(0, 1, 5) # 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，等分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5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份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等分数组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linspace_arr)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创建随机数组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random_arr = np.random.rand(3, 3)  # 0-1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均匀分布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随机数组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random_arr)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normal_arr = np.random.randn(3, 3)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标准正态分布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正态分布数组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normal_arr)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数组属性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556625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创建示例数组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 = np.array([[1, 2, 3], [4, 5, 6]])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数组维度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arr.ndim)      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维度数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数组形状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arr.shape)     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形状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(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行数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列数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数组大小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arr.size)      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元素总数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数据类型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arr.dtype)     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数据类型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数组形状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634095" cy="51949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 = np.arange(12)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原始一维数组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重塑形状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arr_2d = arr.reshape(3, 4)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重塑为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3x4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arr_2d)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转置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arr_t = arr_2d.T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转置数组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arr_t)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展平数组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arr_flat = arr_2d.flatten()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展平数组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arr_flat)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调整大小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arr_resized = np.resize(arr, (3, 5))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调整大小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arr_resized)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数组基本运算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634095" cy="51949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 = np.array([1, 2, 3, 4])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b = np.array([5, 6, 7, 8])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算术运算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加法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+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减法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-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乘法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*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除法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/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幂运算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** 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比较运算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大于比较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&gt; 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等于比较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a ==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矩阵乘法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matrix_a = np.array([[1, 2], [3, 4]])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matrix_b = np.array([[5, 6], [7, 8]])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矩阵乘法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np.dot(matrix_a, matrix_b))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数组统计运算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634095" cy="519493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arr = np.array([[1, 2, 3], [4, 5, 6], [7, 8, 9]])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arr)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总和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np.sum(arr))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每列总和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np.sum(arr, axis=0))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沿列方向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每行总和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np.sum(arr, axis=1))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沿行方向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平均值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np.mean(arr))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标准差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np.std(arr))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方差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np.var(arr))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最小值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np.min(arr))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最大值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np.max(arr))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最小值索引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np.argmin(arr))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最大值索引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np.argmax(arr))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NumPy </a:t>
            </a:r>
            <a:r>
              <a:rPr lang="zh-CN" altLang="en-US" sz="1800"/>
              <a:t>数组广播机制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634095" cy="506857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广播示例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 = np.array([[1, 2, 3], 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          [4, 5, 6], 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          [7, 8, 9]])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b = np.array([10, 20, 30])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a:\n", a)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b:", b)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广播加法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 + b)  # b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被广播到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的每一行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另一个广播例子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c = np.array([[1], [2], [3]])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c:\n", c)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广播乘法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a * c)  # c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被广播到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的每一列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数据分析三剑客</a:t>
            </a:r>
            <a:endParaRPr kumimoji="1" lang="zh-CN" altLang="en-US" dirty="0"/>
          </a:p>
          <a:p>
            <a:r>
              <a:rPr kumimoji="1" lang="en-US" dirty="0">
                <a:sym typeface="+mn-ea"/>
              </a:rPr>
              <a:t>Numpy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olidFill>
                  <a:srgbClr val="C00000"/>
                </a:solidFill>
                <a:sym typeface="+mn-ea"/>
              </a:rPr>
              <a:t>Pandas</a:t>
            </a:r>
            <a:endParaRPr kumimoji="1" lang="en-US" dirty="0">
              <a:solidFill>
                <a:srgbClr val="C00000"/>
              </a:solidFill>
              <a:sym typeface="+mn-ea"/>
            </a:endParaRPr>
          </a:p>
          <a:p>
            <a:r>
              <a:rPr kumimoji="1" lang="en-US" dirty="0"/>
              <a:t>Matplotlib</a:t>
            </a:r>
            <a:endParaRPr kumimoji="1" lang="en-US" dirty="0"/>
          </a:p>
          <a:p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</a:t>
            </a:r>
            <a:r>
              <a:rPr lang="zh-CN" altLang="en-US" sz="1800"/>
              <a:t>安装和导入</a:t>
            </a:r>
            <a:endParaRPr lang="zh-CN" altLang="en-US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pip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pip install pandas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conda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conda install pandas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r>
              <a:rPr b="1">
                <a:sym typeface="+mn-ea"/>
              </a:rPr>
              <a:t>pandas </a:t>
            </a:r>
            <a:endParaRPr b="1">
              <a:sym typeface="+mn-ea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pandas as pd  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惯例缩写为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pd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Series</a:t>
            </a:r>
            <a:r>
              <a:rPr lang="zh-CN" altLang="en-US" sz="1800"/>
              <a:t>对象创建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从列表创建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Series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s1 = pd.Series([1, 3, 5, np.nan, 6, 8])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从列表创建的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Series:")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print(s1)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从字典创建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Series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s2 = pd.Series({'a': 1, 'b': 2, 'c': 3})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从字典创建的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Series:")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print(s2)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480175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指定索引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s3 = pd.Series([10, 20, 30], index=['x', 'y', 'z'])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指定索引的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Series:")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print(s3)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# Series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操作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print("\nSeries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操作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:", s3.values)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索引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  <a:sym typeface="+mn-ea"/>
              </a:rPr>
              <a:t>:", s3.index)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DataFrame</a:t>
            </a:r>
            <a:r>
              <a:rPr lang="zh-CN" altLang="en-US" sz="1800"/>
              <a:t>对象</a:t>
            </a:r>
            <a:r>
              <a:rPr lang="zh-CN" altLang="en-US">
                <a:sym typeface="+mn-ea"/>
              </a:rPr>
              <a:t>创建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4775835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从字典创建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DataFrame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 = {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张三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李四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王五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赵六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[25, 30, 35, 28],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城市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北京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上海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广州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深圳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[5000, 7000, 6000, 8000]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}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pd.DataFrame(data)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DataFrame:")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681345" y="1544320"/>
            <a:ext cx="608965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从列表创建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DataFrame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data_list = [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张三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25,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北京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5000],['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李四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30,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上海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7000],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王五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35,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广州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6000],['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赵六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28,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深圳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8000]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df2 = pd.DataFrame(data_list, columns=['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城市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print(df2)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查看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DataFrame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基本信息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print("\nDataFrame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基本信息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形状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df.shape)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列名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df.columns)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索引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:", df.index)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数据类型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:\n", df.dtypes)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DataFrame</a:t>
            </a:r>
            <a:r>
              <a:rPr lang="zh-CN" altLang="en-US" sz="1800"/>
              <a:t>对象</a:t>
            </a:r>
            <a:r>
              <a:rPr lang="en-US" altLang="zh-CN" sz="1800"/>
              <a:t> </a:t>
            </a:r>
            <a:r>
              <a:rPr lang="zh-CN" altLang="en-US" sz="1800"/>
              <a:t>数据查看和选择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4775835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创建示例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DataFrame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data_list = [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张三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25,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北京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5000],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李四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30,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上海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7000],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王五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35,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广州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6000],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赵六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28,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深圳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8000]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pd.DataFrame(data_list, columns=['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城市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 index=["s1", "s2", "s3", "s4"])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查看数据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print(df.head(3))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print(df.tail(2))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print(df.describe())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681345" y="1544320"/>
            <a:ext cx="6089650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print(df[['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loc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选择（标签索引）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print(df.loc['s1'])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选择一行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print(df.loc[['s1', 's3']])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选择多行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print(df.loc['s1':'s3'])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切片选择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iloc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选择（位置索引）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print(df.iloc[0])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第一行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print(df.iloc[[0, 2]])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选择多行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print(df.iloc[0:3])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切片选择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DataFrame</a:t>
            </a:r>
            <a:r>
              <a:rPr lang="zh-CN" altLang="en-US" sz="1800"/>
              <a:t>对象</a:t>
            </a:r>
            <a:r>
              <a:rPr lang="en-US" altLang="zh-CN" sz="1800"/>
              <a:t> </a:t>
            </a:r>
            <a:r>
              <a:rPr lang="zh-CN" altLang="en-US" sz="1800"/>
              <a:t>数据筛选和过滤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4775835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创建示例数据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pd.DataFrame({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姓名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张三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李四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王五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赵六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钱七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[25, 30, 35, 28, 32],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部门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技术部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技术部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人事部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  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': [5000, 7000, 6000, 5500, 7500]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})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原始数据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681345" y="1544320"/>
            <a:ext cx="6089650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条件筛选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年龄大于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30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的员工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print(df[df['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 &gt; 30])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技术部的员工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print(df[df['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部门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 ==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技术部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query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方法筛选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print(df.query('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&gt; 28 and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&lt; 7000'))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排序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按工资降序排序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print(df.sort_values('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ascending=False))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按多列排序（部门升序，工资降序）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print(df.sort_values(['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部门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工资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 ascending=[True, False]))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DataFrame</a:t>
            </a:r>
            <a:r>
              <a:rPr lang="zh-CN" altLang="en-US" sz="1800"/>
              <a:t>对象</a:t>
            </a:r>
            <a:r>
              <a:rPr lang="en-US" altLang="zh-CN" sz="1800"/>
              <a:t> </a:t>
            </a:r>
            <a:r>
              <a:rPr lang="zh-CN" altLang="en-US" sz="1800"/>
              <a:t>数据转换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1842135" cy="4999355"/>
          </a:xfrm>
          <a:prstGeom prst="rect">
            <a:avLst/>
          </a:prstGeom>
          <a:solidFill>
            <a:schemeClr val="bg1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产品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地区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A,100,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北京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B,200,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上海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C,150,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广州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A,300,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北京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B,250,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上海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C,180,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广州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2864485" y="1544320"/>
            <a:ext cx="8428990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创建示例数据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pd.read_csv("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分组聚合数据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.csv", sep=",")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分组聚合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按产品分组计算总销售额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print(df.groupby('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产品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')['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'].sum())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按产品和地区分组计算统计量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print(df.groupby(['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产品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地区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'])['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'].agg(['sum', 'mean']))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数据透视表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pivot_df = df.pivot_table(index='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产品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values="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", aggfunc='sum')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print(pivot_df)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pivot_df = df.pivot_table(index=['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产品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', '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地区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'], values="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销售额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", aggfunc=['sum', 'mean'])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print(pivot_df)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Pandas DataFrame</a:t>
            </a:r>
            <a:r>
              <a:rPr lang="zh-CN" altLang="en-US" sz="1800"/>
              <a:t>对象</a:t>
            </a:r>
            <a:r>
              <a:rPr lang="en-US" altLang="zh-CN" sz="1800"/>
              <a:t> </a:t>
            </a:r>
            <a:r>
              <a:rPr lang="zh-CN" altLang="en-US" sz="1800"/>
              <a:t>处理缺失值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1375410" cy="4999355"/>
          </a:xfrm>
          <a:prstGeom prst="rect">
            <a:avLst/>
          </a:prstGeom>
          <a:solidFill>
            <a:schemeClr val="bg1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A,B,C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1.0,5.0,9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2.0,,10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,,11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4.0,8.0,12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,,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2387600" y="1544320"/>
            <a:ext cx="4686300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读取包含缺失值的数据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pd.read_csv("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清洗数据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.csv", sep=",")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原始数据（包含缺失值）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检查缺失值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缺失值统计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print(df.isnull().sum())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非缺失值统计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print(df.notnull().sum())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200900" y="1544320"/>
            <a:ext cx="4686300" cy="499935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删除缺失值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删除包含缺失值的行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print(df.dropna())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删除全部为缺失值的列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print(df.dropna(how='all'))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填充缺失值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用指定值填充缺失值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print(df.fillna(0))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print("\n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用均值填充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print(df.fillna(df.mean()))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数据分析三剑客</a:t>
            </a:r>
            <a:endParaRPr kumimoji="1" lang="zh-CN" altLang="en-US" dirty="0"/>
          </a:p>
          <a:p>
            <a:r>
              <a:rPr kumimoji="1" lang="en-US" dirty="0">
                <a:sym typeface="+mn-ea"/>
              </a:rPr>
              <a:t>Numpy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ym typeface="+mn-ea"/>
              </a:rPr>
              <a:t>Pandas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olidFill>
                  <a:srgbClr val="C00000"/>
                </a:solidFill>
              </a:rPr>
              <a:t>Matplotlib</a:t>
            </a:r>
            <a:endParaRPr kumimoji="1" lang="en-US" dirty="0">
              <a:solidFill>
                <a:srgbClr val="C00000"/>
              </a:solidFill>
            </a:endParaRPr>
          </a:p>
          <a:p>
            <a:r>
              <a:rPr kumimoji="1" lang="zh-CN" altLang="en-US" dirty="0"/>
              <a:t>综合案例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800"/>
              <a:t>matplotlib </a:t>
            </a:r>
            <a:r>
              <a:rPr lang="zh-CN" altLang="en-US" sz="1800"/>
              <a:t>安装和导入</a:t>
            </a:r>
            <a:endParaRPr lang="zh-CN" altLang="en-US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pip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pip install matplotlib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conda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安装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conda install matplotlib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r>
              <a:rPr b="1">
                <a:sym typeface="+mn-ea"/>
              </a:rPr>
              <a:t>matplotlib</a:t>
            </a:r>
            <a:endParaRPr b="1">
              <a:sym typeface="+mn-ea"/>
            </a:endParaRPr>
          </a:p>
          <a:p>
            <a:pPr marL="0" indent="0">
              <a:buNone/>
            </a:pP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matplotlib.pyplot as plt  #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惯例缩写为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plt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/>
              <a:t>matplotlib</a:t>
            </a:r>
            <a:r>
              <a:rPr lang="zh-CN" altLang="en-US" sz="1800"/>
              <a:t>绘制折线图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matplotlib.pyplot as plt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注意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新版本需要指定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matplotlib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TkAgg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作为图形后端来渲染和显示图表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matplotlib.use('TkAgg')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注意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中文显示需要额外设置字体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plt.rcParams['font.sans-serif'] = ['SimHei']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plt.rcParams['axes.unicode_minus'] = False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x = np.array([1, 2, 3, 4, 5])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y = np.array([2, 4, 1, 5, 3])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480175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绘制折线图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plt.figure(figsize=(8, 5))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plt.plot(x, y,color='blue')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添加标题和标签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plt.title("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折线图示例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plt.xlabel("X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轴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plt.ylabel("Y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轴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显示网格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plt.grid()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显示图表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plt.show()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/>
              <a:t>matplotlib</a:t>
            </a:r>
            <a:r>
              <a:rPr lang="zh-CN" altLang="en-US" sz="1800"/>
              <a:t>绘制散点图</a:t>
            </a:r>
            <a:endParaRPr lang="zh-CN" altLang="en-US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numpy as np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matplotlib.pyplot as plt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注意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新版本需要指定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matplotlib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 TkAgg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作为图形后端来渲染和显示图表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matplotlib.use('TkAgg')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注意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: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中文显示需要额外设置字体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plt.rcParams['font.sans-serif'] = ['SimHei']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plt.rcParams['axes.unicode_minus'] = False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创建数据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np.random.seed(42)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设置随机种子，保证结果可重复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x = np.random.randn(50)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y = x * 2 + np.random.randn(50) * 0.8  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添加噪声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6480175" y="1544320"/>
            <a:ext cx="5535930" cy="459994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绘制散点图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plt.figure(figsize=(8, 5))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plt.scatter(x, y, color='red')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添加标题和标签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plt.title("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散点图示例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plt.xlabel("X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plt.ylabel("Y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值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显示网格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plt.grid()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显示图表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plt.show()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06476"/>
            <a:ext cx="5973761" cy="3033680"/>
          </a:xfrm>
        </p:spPr>
        <p:txBody>
          <a:bodyPr/>
          <a:lstStyle/>
          <a:p>
            <a:endParaRPr kumimoji="1" lang="en-US" altLang="zh-CN" dirty="0"/>
          </a:p>
          <a:p>
            <a:r>
              <a:rPr kumimoji="1" lang="zh-CN" altLang="en-US" dirty="0"/>
              <a:t>数据分析三剑客</a:t>
            </a:r>
            <a:endParaRPr kumimoji="1" lang="zh-CN" altLang="en-US" dirty="0"/>
          </a:p>
          <a:p>
            <a:r>
              <a:rPr kumimoji="1" lang="en-US" dirty="0">
                <a:sym typeface="+mn-ea"/>
              </a:rPr>
              <a:t>Numpy</a:t>
            </a:r>
            <a:endParaRPr kumimoji="1" lang="en-US" dirty="0">
              <a:sym typeface="+mn-ea"/>
            </a:endParaRPr>
          </a:p>
          <a:p>
            <a:r>
              <a:rPr kumimoji="1" lang="en-US" dirty="0">
                <a:sym typeface="+mn-ea"/>
              </a:rPr>
              <a:t>Pandas</a:t>
            </a:r>
            <a:endParaRPr kumimoji="1" lang="en-US" dirty="0">
              <a:sym typeface="+mn-ea"/>
            </a:endParaRPr>
          </a:p>
          <a:p>
            <a:r>
              <a:rPr kumimoji="1" lang="en-US" dirty="0"/>
              <a:t>Matplotlib</a:t>
            </a:r>
            <a:endParaRPr kumimoji="1" lang="en-US" dirty="0"/>
          </a:p>
          <a:p>
            <a:r>
              <a:rPr kumimoji="1" lang="zh-CN" altLang="en-US" dirty="0">
                <a:solidFill>
                  <a:srgbClr val="C00000"/>
                </a:solidFill>
              </a:rPr>
              <a:t>综合案例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800"/>
              <a:t>综合实战</a:t>
            </a:r>
            <a:endParaRPr lang="zh-CN" altLang="en-US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需求：单独获取中美日三个国家的各个年份的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GDP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数据，并绘制出折线图方便对比</a:t>
            </a:r>
            <a:endParaRPr lang="en-US" altLang="zh-CN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已知中美日</a:t>
            </a:r>
            <a:r>
              <a:rPr lang="en-US" altLang="zh-CN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GDP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数据如下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0" indent="0">
              <a:buNone/>
            </a:pP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408555"/>
            <a:ext cx="9747885" cy="3916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800"/>
              <a:t>综合实战</a:t>
            </a:r>
            <a:endParaRPr lang="zh-CN" altLang="en-US" sz="1800"/>
          </a:p>
        </p:txBody>
      </p:sp>
      <p:pic>
        <p:nvPicPr>
          <p:cNvPr id="3" name="图片 2" descr="D:/新版课程资料/AI+数据分析研发/播仔最新素材库 - All update/播仔最新素材库 - All update/01 (37).png01 (37)"/>
          <p:cNvPicPr>
            <a:picLocks noChangeAspect="1"/>
          </p:cNvPicPr>
          <p:nvPr/>
        </p:nvPicPr>
        <p:blipFill>
          <a:blip r:embed="rId1"/>
          <a:srcRect t="33" b="33"/>
          <a:stretch>
            <a:fillRect/>
          </a:stretch>
        </p:blipFill>
        <p:spPr>
          <a:xfrm>
            <a:off x="11327130" y="5607685"/>
            <a:ext cx="954405" cy="95440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/>
        </p:nvSpPr>
        <p:spPr>
          <a:xfrm>
            <a:off x="710565" y="1512570"/>
            <a:ext cx="10985500" cy="481203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+mj-ea"/>
              <a:buAutoNum type="circleNumDbPlain"/>
              <a:defRPr lang="zh-CN" altLang="en-US" sz="1400" b="0" i="0" kern="12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要求</a:t>
            </a:r>
            <a:r>
              <a:rPr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最终效果如下</a:t>
            </a:r>
            <a:endParaRPr lang="zh-CN" altLang="en-US" sz="1600" b="1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2045970"/>
            <a:ext cx="8277860" cy="4516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参考代码</a:t>
            </a:r>
            <a:endParaRPr lang="zh-CN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746490" cy="52146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1.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导包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pandas as pd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matplotlib.pyplot as plt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import matplotlib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matplotlib.use('TkAgg')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plt.rcParams['font.sans-serif'] = ['SimHei']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plt.rcParams['axes.unicode_minus'] = False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2.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读取数据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 = pd.read_csv("1960-2019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全球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GDP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.csv", sep=',', encoding='gbk')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3.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了解数据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print(df.shape)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4.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数据预处理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因为数据中有很多列数据是空的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NaN,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所以需要删除空值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df.dropna(inplace=True)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print(df.shape)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参考代码</a:t>
            </a:r>
            <a:endParaRPr lang="zh-CN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746490" cy="49218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5.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数据分析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步骤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1: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获取中美日的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gdp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df_cn = df[df["country"] ==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"].copy()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df_us = df[df["country"] ==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美国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"].copy()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df_jp = df[df["country"] ==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日本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"].copy()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步骤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2: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使用年份作为索引列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df_cn.set_index("year",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df_us.set_index("year",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df_jp.set_index("year",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步骤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3: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把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GDP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列名分别改为中国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美国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日本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,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方便区分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df_cn.rename(columns={"GDP":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"},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df_us.rename(columns={"GDP":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美国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"},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df_jp.rename(columns={"GDP": 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日本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"}, inplace=True)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sz="1800"/>
              <a:t>参考代码</a:t>
            </a:r>
            <a:endParaRPr lang="zh-CN" sz="1800"/>
          </a:p>
        </p:txBody>
      </p:sp>
      <p:sp>
        <p:nvSpPr>
          <p:cNvPr id="9" name="TextBox 3"/>
          <p:cNvSpPr txBox="1"/>
          <p:nvPr/>
        </p:nvSpPr>
        <p:spPr>
          <a:xfrm>
            <a:off x="778510" y="1544320"/>
            <a:ext cx="8746490" cy="49218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6.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数据可视化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plt.title("1960-2019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年中美日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GDP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数据折线图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plt.plot(df_cn.index, df_cn["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"], label="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中国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", color="red")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plt.plot(df_us.index, df_us["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美国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"], label="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美国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", color="green")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plt.plot(df_jp.index, df_jp["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日本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"], label="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日本</a:t>
            </a: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", color="blue")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添加图例和网格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plt.legend()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plt.grid()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# </a:t>
            </a:r>
            <a:r>
              <a:rPr lang="zh-CN" altLang="en-US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展示</a:t>
            </a:r>
            <a:endParaRPr lang="zh-CN" altLang="en-US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Courier" charset="0"/>
                <a:ea typeface="Courier" charset="0"/>
                <a:cs typeface="Courier" charset="0"/>
              </a:rPr>
              <a:t>plt.show()</a:t>
            </a: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  <a:p>
            <a:pPr marL="0" lvl="0" indent="0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9922</Words>
  <Application>WPS 演示</Application>
  <PresentationFormat>宽屏</PresentationFormat>
  <Paragraphs>606</Paragraphs>
  <Slides>38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38</vt:i4>
      </vt:variant>
    </vt:vector>
  </HeadingPairs>
  <TitlesOfParts>
    <vt:vector size="68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Segoe UI Light</vt:lpstr>
      <vt:lpstr>微软雅黑 Light</vt:lpstr>
      <vt:lpstr>阿里巴巴普惠体 R</vt:lpstr>
      <vt:lpstr>阿里巴巴普惠体 B</vt:lpstr>
      <vt:lpstr>阿里巴巴普惠体 M</vt:lpstr>
      <vt:lpstr>Alibaba PuHuiTi M</vt:lpstr>
      <vt:lpstr>阿里巴巴普惠体 2.0 55 Regular</vt:lpstr>
      <vt:lpstr>Courier</vt:lpstr>
      <vt:lpstr>Courier New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1_正文设计方案</vt:lpstr>
      <vt:lpstr>5_结束页设计方案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3322</cp:revision>
  <dcterms:created xsi:type="dcterms:W3CDTF">2020-03-31T02:23:00Z</dcterms:created>
  <dcterms:modified xsi:type="dcterms:W3CDTF">2026-04-10T09:23:07Z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18B05F3EEB8E458E833C486DBA12E3C8_12</vt:lpwstr>
  </property>
  <property fmtid="{D5CDD505-2E9C-101B-9397-08002B2CF9AE}" pid="3" name="KSOProductBuildVer">
    <vt:lpwstr>2052-12.1.0.25225</vt:lpwstr>
  </property>
</Properties>
</file>