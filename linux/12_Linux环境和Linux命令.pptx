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3"/>
    <p:sldMasterId id="2147483660" r:id="rId4"/>
    <p:sldMasterId id="2147483663" r:id="rId5"/>
    <p:sldMasterId id="2147483665" r:id="rId6"/>
    <p:sldMasterId id="2147483668" r:id="rId7"/>
    <p:sldMasterId id="2147483687" r:id="rId8"/>
    <p:sldMasterId id="2147483689" r:id="rId9"/>
    <p:sldMasterId id="2147483692" r:id="rId10"/>
    <p:sldMasterId id="2147483695" r:id="rId11"/>
    <p:sldMasterId id="2147483698" r:id="rId12"/>
    <p:sldMasterId id="2147483701" r:id="rId13"/>
    <p:sldMasterId id="2147483704" r:id="rId14"/>
    <p:sldMasterId id="2147483707" r:id="rId15"/>
    <p:sldMasterId id="2147483710" r:id="rId16"/>
    <p:sldMasterId id="2147483729" r:id="rId17"/>
    <p:sldMasterId id="2147483732" r:id="rId18"/>
    <p:sldMasterId id="2147483735" r:id="rId19"/>
    <p:sldMasterId id="2147483738" r:id="rId20"/>
    <p:sldMasterId id="2147483757" r:id="rId21"/>
    <p:sldMasterId id="2147483760" r:id="rId22"/>
    <p:sldMasterId id="2147483763" r:id="rId23"/>
    <p:sldMasterId id="2147483766" r:id="rId24"/>
    <p:sldMasterId id="2147483769" r:id="rId25"/>
    <p:sldMasterId id="2147483772" r:id="rId26"/>
    <p:sldMasterId id="2147483791" r:id="rId27"/>
    <p:sldMasterId id="2147483794" r:id="rId28"/>
    <p:sldMasterId id="2147483797" r:id="rId29"/>
    <p:sldMasterId id="2147483800" r:id="rId30"/>
    <p:sldMasterId id="2147483803" r:id="rId31"/>
    <p:sldMasterId id="2147483806" r:id="rId32"/>
    <p:sldMasterId id="2147483809" r:id="rId33"/>
    <p:sldMasterId id="2147483812" r:id="rId34"/>
    <p:sldMasterId id="2147483815" r:id="rId35"/>
    <p:sldMasterId id="2147483818" r:id="rId36"/>
    <p:sldMasterId id="2147483821" r:id="rId37"/>
    <p:sldMasterId id="2147483824" r:id="rId38"/>
    <p:sldMasterId id="2147483827" r:id="rId39"/>
    <p:sldMasterId id="2147483830" r:id="rId40"/>
    <p:sldMasterId id="2147483833" r:id="rId41"/>
    <p:sldMasterId id="2147483836" r:id="rId42"/>
    <p:sldMasterId id="2147483839" r:id="rId43"/>
    <p:sldMasterId id="2147483842" r:id="rId44"/>
    <p:sldMasterId id="2147483845" r:id="rId45"/>
    <p:sldMasterId id="2147483848" r:id="rId46"/>
    <p:sldMasterId id="2147483851" r:id="rId47"/>
    <p:sldMasterId id="2147483854" r:id="rId48"/>
    <p:sldMasterId id="2147483857" r:id="rId49"/>
    <p:sldMasterId id="2147483860" r:id="rId50"/>
    <p:sldMasterId id="2147483863" r:id="rId51"/>
    <p:sldMasterId id="2147483866" r:id="rId52"/>
  </p:sldMasterIdLst>
  <p:notesMasterIdLst>
    <p:notesMasterId r:id="rId54"/>
  </p:notesMasterIdLst>
  <p:handoutMasterIdLst>
    <p:handoutMasterId r:id="rId140"/>
  </p:handoutMasterIdLst>
  <p:sldIdLst>
    <p:sldId id="462" r:id="rId53"/>
    <p:sldId id="1754" r:id="rId55"/>
    <p:sldId id="1758" r:id="rId56"/>
    <p:sldId id="1713" r:id="rId57"/>
    <p:sldId id="1715" r:id="rId58"/>
    <p:sldId id="1755" r:id="rId59"/>
    <p:sldId id="1716" r:id="rId60"/>
    <p:sldId id="1717" r:id="rId61"/>
    <p:sldId id="1718" r:id="rId62"/>
    <p:sldId id="1756" r:id="rId63"/>
    <p:sldId id="1757" r:id="rId64"/>
    <p:sldId id="1720" r:id="rId65"/>
    <p:sldId id="1759" r:id="rId66"/>
    <p:sldId id="1724" r:id="rId67"/>
    <p:sldId id="1760" r:id="rId68"/>
    <p:sldId id="1726" r:id="rId69"/>
    <p:sldId id="1727" r:id="rId70"/>
    <p:sldId id="1728" r:id="rId71"/>
    <p:sldId id="1729" r:id="rId72"/>
    <p:sldId id="1761" r:id="rId73"/>
    <p:sldId id="1643" r:id="rId74"/>
    <p:sldId id="1644" r:id="rId75"/>
    <p:sldId id="1645" r:id="rId76"/>
    <p:sldId id="1740" r:id="rId77"/>
    <p:sldId id="1646" r:id="rId78"/>
    <p:sldId id="1647" r:id="rId79"/>
    <p:sldId id="1650" r:id="rId80"/>
    <p:sldId id="1651" r:id="rId81"/>
    <p:sldId id="1652" r:id="rId82"/>
    <p:sldId id="1653" r:id="rId83"/>
    <p:sldId id="1654" r:id="rId84"/>
    <p:sldId id="1741" r:id="rId85"/>
    <p:sldId id="1656" r:id="rId86"/>
    <p:sldId id="1658" r:id="rId87"/>
    <p:sldId id="1659" r:id="rId88"/>
    <p:sldId id="1660" r:id="rId89"/>
    <p:sldId id="1661" r:id="rId90"/>
    <p:sldId id="1662" r:id="rId91"/>
    <p:sldId id="1663" r:id="rId92"/>
    <p:sldId id="1793" r:id="rId93"/>
    <p:sldId id="1742" r:id="rId94"/>
    <p:sldId id="1762" r:id="rId95"/>
    <p:sldId id="1744" r:id="rId96"/>
    <p:sldId id="1678" r:id="rId97"/>
    <p:sldId id="1679" r:id="rId98"/>
    <p:sldId id="1680" r:id="rId99"/>
    <p:sldId id="1681" r:id="rId100"/>
    <p:sldId id="1682" r:id="rId101"/>
    <p:sldId id="1683" r:id="rId102"/>
    <p:sldId id="1684" r:id="rId103"/>
    <p:sldId id="1685" r:id="rId104"/>
    <p:sldId id="1686" r:id="rId105"/>
    <p:sldId id="1687" r:id="rId106"/>
    <p:sldId id="1745" r:id="rId107"/>
    <p:sldId id="1763" r:id="rId108"/>
    <p:sldId id="1737" r:id="rId109"/>
    <p:sldId id="1765" r:id="rId110"/>
    <p:sldId id="1766" r:id="rId111"/>
    <p:sldId id="1739" r:id="rId112"/>
    <p:sldId id="1767" r:id="rId113"/>
    <p:sldId id="1768" r:id="rId114"/>
    <p:sldId id="1770" r:id="rId115"/>
    <p:sldId id="1753" r:id="rId116"/>
    <p:sldId id="1772" r:id="rId117"/>
    <p:sldId id="1771" r:id="rId118"/>
    <p:sldId id="1773" r:id="rId119"/>
    <p:sldId id="1774" r:id="rId120"/>
    <p:sldId id="1775" r:id="rId121"/>
    <p:sldId id="1776" r:id="rId122"/>
    <p:sldId id="1777" r:id="rId123"/>
    <p:sldId id="1778" r:id="rId124"/>
    <p:sldId id="1779" r:id="rId125"/>
    <p:sldId id="1780" r:id="rId126"/>
    <p:sldId id="1781" r:id="rId127"/>
    <p:sldId id="1782" r:id="rId128"/>
    <p:sldId id="1783" r:id="rId129"/>
    <p:sldId id="1784" r:id="rId130"/>
    <p:sldId id="1785" r:id="rId131"/>
    <p:sldId id="1786" r:id="rId132"/>
    <p:sldId id="1787" r:id="rId133"/>
    <p:sldId id="1788" r:id="rId134"/>
    <p:sldId id="1764" r:id="rId135"/>
    <p:sldId id="1790" r:id="rId136"/>
    <p:sldId id="1791" r:id="rId137"/>
    <p:sldId id="1792" r:id="rId138"/>
    <p:sldId id="264" r:id="rId139"/>
  </p:sldIdLst>
  <p:sldSz cx="12192000" cy="6858000"/>
  <p:notesSz cx="6858000" cy="9144000"/>
  <p:embeddedFontLst>
    <p:embeddedFont>
      <p:font typeface="Calibri" panose="020F0502020204030204" pitchFamily="34" charset="0"/>
      <p:regular r:id="rId145"/>
      <p:bold r:id="rId146"/>
      <p:italic r:id="rId147"/>
      <p:boldItalic r:id="rId148"/>
    </p:embeddedFont>
    <p:embeddedFont>
      <p:font typeface="黑体" panose="02010609060101010101" pitchFamily="49" charset="-122"/>
      <p:regular r:id="rId149"/>
    </p:embeddedFont>
    <p:embeddedFont>
      <p:font typeface="Verdana" panose="020B0604030504040204" pitchFamily="34" charset="0"/>
      <p:regular r:id="rId150"/>
      <p:bold r:id="rId151"/>
      <p:italic r:id="rId152"/>
      <p:boldItalic r:id="rId153"/>
    </p:embeddedFont>
    <p:embeddedFont>
      <p:font typeface="微软雅黑 Light" panose="020B0502040204020203" pitchFamily="34" charset="-122"/>
      <p:regular r:id="rId154"/>
    </p:embeddedFont>
    <p:embeddedFont>
      <p:font typeface="华文楷体" panose="02010600040101010101" pitchFamily="2" charset="-122"/>
      <p:regular r:id="rId155"/>
    </p:embeddedFont>
    <p:embeddedFont>
      <p:font typeface="等线" panose="02010600030101010101" charset="-122"/>
      <p:regular r:id="rId156"/>
    </p:embeddedFont>
  </p:embeddedFontLst>
  <p:custDataLst>
    <p:tags r:id="rId1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2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A26"/>
    <a:srgbClr val="FFFFFF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5344" autoAdjust="0"/>
  </p:normalViewPr>
  <p:slideViewPr>
    <p:cSldViewPr snapToGrid="0" showGuides="1">
      <p:cViewPr varScale="1">
        <p:scale>
          <a:sx n="93" d="100"/>
          <a:sy n="93" d="100"/>
        </p:scale>
        <p:origin x="216" y="520"/>
      </p:cViewPr>
      <p:guideLst>
        <p:guide orient="horz" pos="592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46.xml"/><Relationship Id="rId98" Type="http://schemas.openxmlformats.org/officeDocument/2006/relationships/slide" Target="slides/slide45.xml"/><Relationship Id="rId97" Type="http://schemas.openxmlformats.org/officeDocument/2006/relationships/slide" Target="slides/slide44.xml"/><Relationship Id="rId96" Type="http://schemas.openxmlformats.org/officeDocument/2006/relationships/slide" Target="slides/slide43.xml"/><Relationship Id="rId95" Type="http://schemas.openxmlformats.org/officeDocument/2006/relationships/slide" Target="slides/slide42.xml"/><Relationship Id="rId94" Type="http://schemas.openxmlformats.org/officeDocument/2006/relationships/slide" Target="slides/slide41.xml"/><Relationship Id="rId93" Type="http://schemas.openxmlformats.org/officeDocument/2006/relationships/slide" Target="slides/slide40.xml"/><Relationship Id="rId92" Type="http://schemas.openxmlformats.org/officeDocument/2006/relationships/slide" Target="slides/slide39.xml"/><Relationship Id="rId91" Type="http://schemas.openxmlformats.org/officeDocument/2006/relationships/slide" Target="slides/slide38.xml"/><Relationship Id="rId90" Type="http://schemas.openxmlformats.org/officeDocument/2006/relationships/slide" Target="slides/slide37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36.xml"/><Relationship Id="rId88" Type="http://schemas.openxmlformats.org/officeDocument/2006/relationships/slide" Target="slides/slide35.xml"/><Relationship Id="rId87" Type="http://schemas.openxmlformats.org/officeDocument/2006/relationships/slide" Target="slides/slide34.xml"/><Relationship Id="rId86" Type="http://schemas.openxmlformats.org/officeDocument/2006/relationships/slide" Target="slides/slide33.xml"/><Relationship Id="rId85" Type="http://schemas.openxmlformats.org/officeDocument/2006/relationships/slide" Target="slides/slide32.xml"/><Relationship Id="rId84" Type="http://schemas.openxmlformats.org/officeDocument/2006/relationships/slide" Target="slides/slide31.xml"/><Relationship Id="rId83" Type="http://schemas.openxmlformats.org/officeDocument/2006/relationships/slide" Target="slides/slide30.xml"/><Relationship Id="rId82" Type="http://schemas.openxmlformats.org/officeDocument/2006/relationships/slide" Target="slides/slide29.xml"/><Relationship Id="rId81" Type="http://schemas.openxmlformats.org/officeDocument/2006/relationships/slide" Target="slides/slide28.xml"/><Relationship Id="rId80" Type="http://schemas.openxmlformats.org/officeDocument/2006/relationships/slide" Target="slides/slide27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26.xml"/><Relationship Id="rId78" Type="http://schemas.openxmlformats.org/officeDocument/2006/relationships/slide" Target="slides/slide25.xml"/><Relationship Id="rId77" Type="http://schemas.openxmlformats.org/officeDocument/2006/relationships/slide" Target="slides/slide24.xml"/><Relationship Id="rId76" Type="http://schemas.openxmlformats.org/officeDocument/2006/relationships/slide" Target="slides/slide23.xml"/><Relationship Id="rId75" Type="http://schemas.openxmlformats.org/officeDocument/2006/relationships/slide" Target="slides/slide22.xml"/><Relationship Id="rId74" Type="http://schemas.openxmlformats.org/officeDocument/2006/relationships/slide" Target="slides/slide21.xml"/><Relationship Id="rId73" Type="http://schemas.openxmlformats.org/officeDocument/2006/relationships/slide" Target="slides/slide20.xml"/><Relationship Id="rId72" Type="http://schemas.openxmlformats.org/officeDocument/2006/relationships/slide" Target="slides/slide19.xml"/><Relationship Id="rId71" Type="http://schemas.openxmlformats.org/officeDocument/2006/relationships/slide" Target="slides/slide18.xml"/><Relationship Id="rId70" Type="http://schemas.openxmlformats.org/officeDocument/2006/relationships/slide" Target="slides/slide17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16.xml"/><Relationship Id="rId68" Type="http://schemas.openxmlformats.org/officeDocument/2006/relationships/slide" Target="slides/slide15.xml"/><Relationship Id="rId67" Type="http://schemas.openxmlformats.org/officeDocument/2006/relationships/slide" Target="slides/slide14.xml"/><Relationship Id="rId66" Type="http://schemas.openxmlformats.org/officeDocument/2006/relationships/slide" Target="slides/slide13.xml"/><Relationship Id="rId65" Type="http://schemas.openxmlformats.org/officeDocument/2006/relationships/slide" Target="slides/slide12.xml"/><Relationship Id="rId64" Type="http://schemas.openxmlformats.org/officeDocument/2006/relationships/slide" Target="slides/slide11.xml"/><Relationship Id="rId63" Type="http://schemas.openxmlformats.org/officeDocument/2006/relationships/slide" Target="slides/slide10.xml"/><Relationship Id="rId62" Type="http://schemas.openxmlformats.org/officeDocument/2006/relationships/slide" Target="slides/slide9.xml"/><Relationship Id="rId61" Type="http://schemas.openxmlformats.org/officeDocument/2006/relationships/slide" Target="slides/slide8.xml"/><Relationship Id="rId60" Type="http://schemas.openxmlformats.org/officeDocument/2006/relationships/slide" Target="slides/slide7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6.xml"/><Relationship Id="rId58" Type="http://schemas.openxmlformats.org/officeDocument/2006/relationships/slide" Target="slides/slide5.xml"/><Relationship Id="rId57" Type="http://schemas.openxmlformats.org/officeDocument/2006/relationships/slide" Target="slides/slide4.xml"/><Relationship Id="rId56" Type="http://schemas.openxmlformats.org/officeDocument/2006/relationships/slide" Target="slides/slide3.xml"/><Relationship Id="rId55" Type="http://schemas.openxmlformats.org/officeDocument/2006/relationships/slide" Target="slides/slide2.xml"/><Relationship Id="rId54" Type="http://schemas.openxmlformats.org/officeDocument/2006/relationships/notesMaster" Target="notesMasters/notesMaster1.xml"/><Relationship Id="rId53" Type="http://schemas.openxmlformats.org/officeDocument/2006/relationships/slide" Target="slides/slide1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7" Type="http://schemas.openxmlformats.org/officeDocument/2006/relationships/tags" Target="tags/tag8.xml"/><Relationship Id="rId156" Type="http://schemas.openxmlformats.org/officeDocument/2006/relationships/font" Target="fonts/font12.fntdata"/><Relationship Id="rId155" Type="http://schemas.openxmlformats.org/officeDocument/2006/relationships/font" Target="fonts/font11.fntdata"/><Relationship Id="rId154" Type="http://schemas.openxmlformats.org/officeDocument/2006/relationships/font" Target="fonts/font10.fntdata"/><Relationship Id="rId153" Type="http://schemas.openxmlformats.org/officeDocument/2006/relationships/font" Target="fonts/font9.fntdata"/><Relationship Id="rId152" Type="http://schemas.openxmlformats.org/officeDocument/2006/relationships/font" Target="fonts/font8.fntdata"/><Relationship Id="rId151" Type="http://schemas.openxmlformats.org/officeDocument/2006/relationships/font" Target="fonts/font7.fntdata"/><Relationship Id="rId150" Type="http://schemas.openxmlformats.org/officeDocument/2006/relationships/font" Target="fonts/font6.fntdata"/><Relationship Id="rId15" Type="http://schemas.openxmlformats.org/officeDocument/2006/relationships/slideMaster" Target="slideMasters/slideMaster14.xml"/><Relationship Id="rId149" Type="http://schemas.openxmlformats.org/officeDocument/2006/relationships/font" Target="fonts/font5.fntdata"/><Relationship Id="rId148" Type="http://schemas.openxmlformats.org/officeDocument/2006/relationships/font" Target="fonts/font4.fntdata"/><Relationship Id="rId147" Type="http://schemas.openxmlformats.org/officeDocument/2006/relationships/font" Target="fonts/font3.fntdata"/><Relationship Id="rId146" Type="http://schemas.openxmlformats.org/officeDocument/2006/relationships/font" Target="fonts/font2.fntdata"/><Relationship Id="rId145" Type="http://schemas.openxmlformats.org/officeDocument/2006/relationships/font" Target="fonts/font1.fntdata"/><Relationship Id="rId144" Type="http://schemas.openxmlformats.org/officeDocument/2006/relationships/commentAuthors" Target="commentAuthors.xml"/><Relationship Id="rId143" Type="http://schemas.openxmlformats.org/officeDocument/2006/relationships/tableStyles" Target="tableStyles.xml"/><Relationship Id="rId142" Type="http://schemas.openxmlformats.org/officeDocument/2006/relationships/viewProps" Target="viewProps.xml"/><Relationship Id="rId141" Type="http://schemas.openxmlformats.org/officeDocument/2006/relationships/presProps" Target="presProps.xml"/><Relationship Id="rId140" Type="http://schemas.openxmlformats.org/officeDocument/2006/relationships/handoutMaster" Target="handoutMasters/handoutMaster1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86.xml"/><Relationship Id="rId138" Type="http://schemas.openxmlformats.org/officeDocument/2006/relationships/slide" Target="slides/slide85.xml"/><Relationship Id="rId137" Type="http://schemas.openxmlformats.org/officeDocument/2006/relationships/slide" Target="slides/slide84.xml"/><Relationship Id="rId136" Type="http://schemas.openxmlformats.org/officeDocument/2006/relationships/slide" Target="slides/slide83.xml"/><Relationship Id="rId135" Type="http://schemas.openxmlformats.org/officeDocument/2006/relationships/slide" Target="slides/slide82.xml"/><Relationship Id="rId134" Type="http://schemas.openxmlformats.org/officeDocument/2006/relationships/slide" Target="slides/slide81.xml"/><Relationship Id="rId133" Type="http://schemas.openxmlformats.org/officeDocument/2006/relationships/slide" Target="slides/slide80.xml"/><Relationship Id="rId132" Type="http://schemas.openxmlformats.org/officeDocument/2006/relationships/slide" Target="slides/slide79.xml"/><Relationship Id="rId131" Type="http://schemas.openxmlformats.org/officeDocument/2006/relationships/slide" Target="slides/slide78.xml"/><Relationship Id="rId130" Type="http://schemas.openxmlformats.org/officeDocument/2006/relationships/slide" Target="slides/slide77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76.xml"/><Relationship Id="rId128" Type="http://schemas.openxmlformats.org/officeDocument/2006/relationships/slide" Target="slides/slide75.xml"/><Relationship Id="rId127" Type="http://schemas.openxmlformats.org/officeDocument/2006/relationships/slide" Target="slides/slide74.xml"/><Relationship Id="rId126" Type="http://schemas.openxmlformats.org/officeDocument/2006/relationships/slide" Target="slides/slide73.xml"/><Relationship Id="rId125" Type="http://schemas.openxmlformats.org/officeDocument/2006/relationships/slide" Target="slides/slide72.xml"/><Relationship Id="rId124" Type="http://schemas.openxmlformats.org/officeDocument/2006/relationships/slide" Target="slides/slide71.xml"/><Relationship Id="rId123" Type="http://schemas.openxmlformats.org/officeDocument/2006/relationships/slide" Target="slides/slide70.xml"/><Relationship Id="rId122" Type="http://schemas.openxmlformats.org/officeDocument/2006/relationships/slide" Target="slides/slide69.xml"/><Relationship Id="rId121" Type="http://schemas.openxmlformats.org/officeDocument/2006/relationships/slide" Target="slides/slide68.xml"/><Relationship Id="rId120" Type="http://schemas.openxmlformats.org/officeDocument/2006/relationships/slide" Target="slides/slide67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66.xml"/><Relationship Id="rId118" Type="http://schemas.openxmlformats.org/officeDocument/2006/relationships/slide" Target="slides/slide65.xml"/><Relationship Id="rId117" Type="http://schemas.openxmlformats.org/officeDocument/2006/relationships/slide" Target="slides/slide64.xml"/><Relationship Id="rId116" Type="http://schemas.openxmlformats.org/officeDocument/2006/relationships/slide" Target="slides/slide63.xml"/><Relationship Id="rId115" Type="http://schemas.openxmlformats.org/officeDocument/2006/relationships/slide" Target="slides/slide62.xml"/><Relationship Id="rId114" Type="http://schemas.openxmlformats.org/officeDocument/2006/relationships/slide" Target="slides/slide61.xml"/><Relationship Id="rId113" Type="http://schemas.openxmlformats.org/officeDocument/2006/relationships/slide" Target="slides/slide60.xml"/><Relationship Id="rId112" Type="http://schemas.openxmlformats.org/officeDocument/2006/relationships/slide" Target="slides/slide59.xml"/><Relationship Id="rId111" Type="http://schemas.openxmlformats.org/officeDocument/2006/relationships/slide" Target="slides/slide58.xml"/><Relationship Id="rId110" Type="http://schemas.openxmlformats.org/officeDocument/2006/relationships/slide" Target="slides/slide57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56.xml"/><Relationship Id="rId108" Type="http://schemas.openxmlformats.org/officeDocument/2006/relationships/slide" Target="slides/slide55.xml"/><Relationship Id="rId107" Type="http://schemas.openxmlformats.org/officeDocument/2006/relationships/slide" Target="slides/slide54.xml"/><Relationship Id="rId106" Type="http://schemas.openxmlformats.org/officeDocument/2006/relationships/slide" Target="slides/slide53.xml"/><Relationship Id="rId105" Type="http://schemas.openxmlformats.org/officeDocument/2006/relationships/slide" Target="slides/slide52.xml"/><Relationship Id="rId104" Type="http://schemas.openxmlformats.org/officeDocument/2006/relationships/slide" Target="slides/slide51.xml"/><Relationship Id="rId103" Type="http://schemas.openxmlformats.org/officeDocument/2006/relationships/slide" Target="slides/slide50.xml"/><Relationship Id="rId102" Type="http://schemas.openxmlformats.org/officeDocument/2006/relationships/slide" Target="slides/slide49.xml"/><Relationship Id="rId101" Type="http://schemas.openxmlformats.org/officeDocument/2006/relationships/slide" Target="slides/slide48.xml"/><Relationship Id="rId100" Type="http://schemas.openxmlformats.org/officeDocument/2006/relationships/slide" Target="slides/slide47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4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/Relationships>
</file>

<file path=ppt/slideMasters/_rels/slideMaster13.xml.rels><?xml version="1.0" encoding="UTF-8" standalone="yes"?>
<Relationships xmlns="http://schemas.openxmlformats.org/package/2006/relationships"><Relationship Id="rId5" Type="http://schemas.openxmlformats.org/officeDocument/2006/relationships/theme" Target="../theme/theme1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0" Type="http://schemas.openxmlformats.org/officeDocument/2006/relationships/theme" Target="../theme/theme15.xml"/><Relationship Id="rId2" Type="http://schemas.openxmlformats.org/officeDocument/2006/relationships/slideLayout" Target="../slideLayouts/slideLayout5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16.xml.rels><?xml version="1.0" encoding="UTF-8" standalone="yes"?>
<Relationships xmlns="http://schemas.openxmlformats.org/package/2006/relationships"><Relationship Id="rId5" Type="http://schemas.openxmlformats.org/officeDocument/2006/relationships/theme" Target="../theme/theme1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7.xml.rels><?xml version="1.0" encoding="UTF-8" standalone="yes"?>
<Relationships xmlns="http://schemas.openxmlformats.org/package/2006/relationships"><Relationship Id="rId5" Type="http://schemas.openxmlformats.org/officeDocument/2006/relationships/theme" Target="../theme/theme1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/Relationships>
</file>

<file path=ppt/slideMasters/_rels/slideMaster18.xml.rels><?xml version="1.0" encoding="UTF-8" standalone="yes"?>
<Relationships xmlns="http://schemas.openxmlformats.org/package/2006/relationships"><Relationship Id="rId5" Type="http://schemas.openxmlformats.org/officeDocument/2006/relationships/theme" Target="../theme/theme1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7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" Type="http://schemas.openxmlformats.org/officeDocument/2006/relationships/slideLayout" Target="../slideLayouts/slideLayout73.xml"/></Relationships>
</file>

<file path=ppt/slideMasters/_rels/slideMaster20.xml.rels><?xml version="1.0" encoding="UTF-8" standalone="yes"?>
<Relationships xmlns="http://schemas.openxmlformats.org/package/2006/relationships"><Relationship Id="rId5" Type="http://schemas.openxmlformats.org/officeDocument/2006/relationships/theme" Target="../theme/theme2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/Relationships>
</file>

<file path=ppt/slideMasters/_rels/slideMaster21.xml.rels><?xml version="1.0" encoding="UTF-8" standalone="yes"?>
<Relationships xmlns="http://schemas.openxmlformats.org/package/2006/relationships"><Relationship Id="rId5" Type="http://schemas.openxmlformats.org/officeDocument/2006/relationships/theme" Target="../theme/theme2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/Relationships>
</file>

<file path=ppt/slideMasters/_rels/slideMaster2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/Relationships>
</file>

<file path=ppt/slideMasters/_rels/slideMaster23.xml.rels><?xml version="1.0" encoding="UTF-8" standalone="yes"?>
<Relationships xmlns="http://schemas.openxmlformats.org/package/2006/relationships"><Relationship Id="rId5" Type="http://schemas.openxmlformats.org/officeDocument/2006/relationships/theme" Target="../theme/theme2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/Relationships>
</file>

<file path=ppt/slideMasters/_rels/slideMaster24.xml.rels><?xml version="1.0" encoding="UTF-8" standalone="yes"?>
<Relationships xmlns="http://schemas.openxmlformats.org/package/2006/relationships"><Relationship Id="rId5" Type="http://schemas.openxmlformats.org/officeDocument/2006/relationships/theme" Target="../theme/theme2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0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_rels/slideMaster26.xml.rels><?xml version="1.0" encoding="UTF-8" standalone="yes"?>
<Relationships xmlns="http://schemas.openxmlformats.org/package/2006/relationships"><Relationship Id="rId5" Type="http://schemas.openxmlformats.org/officeDocument/2006/relationships/theme" Target="../theme/theme2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/Relationships>
</file>

<file path=ppt/slideMasters/_rels/slideMaster27.xml.rels><?xml version="1.0" encoding="UTF-8" standalone="yes"?>
<Relationships xmlns="http://schemas.openxmlformats.org/package/2006/relationships"><Relationship Id="rId5" Type="http://schemas.openxmlformats.org/officeDocument/2006/relationships/theme" Target="../theme/theme2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/Relationships>
</file>

<file path=ppt/slideMasters/_rels/slideMaster28.xml.rels><?xml version="1.0" encoding="UTF-8" standalone="yes"?>
<Relationships xmlns="http://schemas.openxmlformats.org/package/2006/relationships"><Relationship Id="rId5" Type="http://schemas.openxmlformats.org/officeDocument/2006/relationships/theme" Target="../theme/theme2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/Relationships>
</file>

<file path=ppt/slideMasters/_rels/slideMaster29.xml.rels><?xml version="1.0" encoding="UTF-8" standalone="yes"?>
<Relationships xmlns="http://schemas.openxmlformats.org/package/2006/relationships"><Relationship Id="rId5" Type="http://schemas.openxmlformats.org/officeDocument/2006/relationships/theme" Target="../theme/theme2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/Relationships>
</file>

<file path=ppt/slideMasters/_rels/slideMaster30.xml.rels><?xml version="1.0" encoding="UTF-8" standalone="yes"?>
<Relationships xmlns="http://schemas.openxmlformats.org/package/2006/relationships"><Relationship Id="rId5" Type="http://schemas.openxmlformats.org/officeDocument/2006/relationships/theme" Target="../theme/theme3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/Relationships>
</file>

<file path=ppt/slideMasters/_rels/slideMaster31.xml.rels><?xml version="1.0" encoding="UTF-8" standalone="yes"?>
<Relationships xmlns="http://schemas.openxmlformats.org/package/2006/relationships"><Relationship Id="rId5" Type="http://schemas.openxmlformats.org/officeDocument/2006/relationships/theme" Target="../theme/theme3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9.xml"/></Relationships>
</file>

<file path=ppt/slideMasters/_rels/slideMaster32.xml.rels><?xml version="1.0" encoding="UTF-8" standalone="yes"?>
<Relationships xmlns="http://schemas.openxmlformats.org/package/2006/relationships"><Relationship Id="rId5" Type="http://schemas.openxmlformats.org/officeDocument/2006/relationships/theme" Target="../theme/theme3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/Relationships>
</file>

<file path=ppt/slideMasters/_rels/slideMaster3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/Relationships>
</file>

<file path=ppt/slideMasters/_rels/slideMaster34.xml.rels><?xml version="1.0" encoding="UTF-8" standalone="yes"?>
<Relationships xmlns="http://schemas.openxmlformats.org/package/2006/relationships"><Relationship Id="rId5" Type="http://schemas.openxmlformats.org/officeDocument/2006/relationships/theme" Target="../theme/theme3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/Relationships>
</file>

<file path=ppt/slideMasters/_rels/slideMaster35.xml.rels><?xml version="1.0" encoding="UTF-8" standalone="yes"?>
<Relationships xmlns="http://schemas.openxmlformats.org/package/2006/relationships"><Relationship Id="rId5" Type="http://schemas.openxmlformats.org/officeDocument/2006/relationships/theme" Target="../theme/theme35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37.xml"/></Relationships>
</file>

<file path=ppt/slideMasters/_rels/slideMaster36.xml.rels><?xml version="1.0" encoding="UTF-8" standalone="yes"?>
<Relationships xmlns="http://schemas.openxmlformats.org/package/2006/relationships"><Relationship Id="rId5" Type="http://schemas.openxmlformats.org/officeDocument/2006/relationships/theme" Target="../theme/theme3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/Relationships>
</file>

<file path=ppt/slideMasters/_rels/slideMaster37.xml.rels><?xml version="1.0" encoding="UTF-8" standalone="yes"?>
<Relationships xmlns="http://schemas.openxmlformats.org/package/2006/relationships"><Relationship Id="rId5" Type="http://schemas.openxmlformats.org/officeDocument/2006/relationships/theme" Target="../theme/theme3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/Relationships>
</file>

<file path=ppt/slideMasters/_rels/slideMaster38.xml.rels><?xml version="1.0" encoding="UTF-8" standalone="yes"?>
<Relationships xmlns="http://schemas.openxmlformats.org/package/2006/relationships"><Relationship Id="rId5" Type="http://schemas.openxmlformats.org/officeDocument/2006/relationships/theme" Target="../theme/theme3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/Relationships>
</file>

<file path=ppt/slideMasters/_rels/slideMaster39.xml.rels><?xml version="1.0" encoding="UTF-8" standalone="yes"?>
<Relationships xmlns="http://schemas.openxmlformats.org/package/2006/relationships"><Relationship Id="rId5" Type="http://schemas.openxmlformats.org/officeDocument/2006/relationships/theme" Target="../theme/theme3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45.xml"/></Relationships>
</file>

<file path=ppt/slideMasters/_rels/slideMaster40.xml.rels><?xml version="1.0" encoding="UTF-8" standalone="yes"?>
<Relationships xmlns="http://schemas.openxmlformats.org/package/2006/relationships"><Relationship Id="rId5" Type="http://schemas.openxmlformats.org/officeDocument/2006/relationships/theme" Target="../theme/theme4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/Relationships>
</file>

<file path=ppt/slideMasters/_rels/slideMaster41.xml.rels><?xml version="1.0" encoding="UTF-8" standalone="yes"?>
<Relationships xmlns="http://schemas.openxmlformats.org/package/2006/relationships"><Relationship Id="rId5" Type="http://schemas.openxmlformats.org/officeDocument/2006/relationships/theme" Target="../theme/theme4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/Relationships>
</file>

<file path=ppt/slideMasters/_rels/slideMaster42.xml.rels><?xml version="1.0" encoding="UTF-8" standalone="yes"?>
<Relationships xmlns="http://schemas.openxmlformats.org/package/2006/relationships"><Relationship Id="rId5" Type="http://schemas.openxmlformats.org/officeDocument/2006/relationships/theme" Target="../theme/theme4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51.xml"/></Relationships>
</file>

<file path=ppt/slideMasters/_rels/slideMaster43.xml.rels><?xml version="1.0" encoding="UTF-8" standalone="yes"?>
<Relationships xmlns="http://schemas.openxmlformats.org/package/2006/relationships"><Relationship Id="rId5" Type="http://schemas.openxmlformats.org/officeDocument/2006/relationships/theme" Target="../theme/theme4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53.xml"/></Relationships>
</file>

<file path=ppt/slideMasters/_rels/slideMaster44.xml.rels><?xml version="1.0" encoding="UTF-8" standalone="yes"?>
<Relationships xmlns="http://schemas.openxmlformats.org/package/2006/relationships"><Relationship Id="rId5" Type="http://schemas.openxmlformats.org/officeDocument/2006/relationships/theme" Target="../theme/theme4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/Relationships>
</file>

<file path=ppt/slideMasters/_rels/slideMaster45.xml.rels><?xml version="1.0" encoding="UTF-8" standalone="yes"?>
<Relationships xmlns="http://schemas.openxmlformats.org/package/2006/relationships"><Relationship Id="rId5" Type="http://schemas.openxmlformats.org/officeDocument/2006/relationships/theme" Target="../theme/theme45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/Relationships>
</file>

<file path=ppt/slideMasters/_rels/slideMaster46.xml.rels><?xml version="1.0" encoding="UTF-8" standalone="yes"?>
<Relationships xmlns="http://schemas.openxmlformats.org/package/2006/relationships"><Relationship Id="rId5" Type="http://schemas.openxmlformats.org/officeDocument/2006/relationships/theme" Target="../theme/theme4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/Relationships>
</file>

<file path=ppt/slideMasters/_rels/slideMaster47.xml.rels><?xml version="1.0" encoding="UTF-8" standalone="yes"?>
<Relationships xmlns="http://schemas.openxmlformats.org/package/2006/relationships"><Relationship Id="rId5" Type="http://schemas.openxmlformats.org/officeDocument/2006/relationships/theme" Target="../theme/theme4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2.xml"/><Relationship Id="rId1" Type="http://schemas.openxmlformats.org/officeDocument/2006/relationships/slideLayout" Target="../slideLayouts/slideLayout161.xml"/></Relationships>
</file>

<file path=ppt/slideMasters/_rels/slideMaster48.xml.rels><?xml version="1.0" encoding="UTF-8" standalone="yes"?>
<Relationships xmlns="http://schemas.openxmlformats.org/package/2006/relationships"><Relationship Id="rId5" Type="http://schemas.openxmlformats.org/officeDocument/2006/relationships/theme" Target="../theme/theme4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63.xml"/></Relationships>
</file>

<file path=ppt/slideMasters/_rels/slideMaster49.xml.rels><?xml version="1.0" encoding="UTF-8" standalone="yes"?>
<Relationships xmlns="http://schemas.openxmlformats.org/package/2006/relationships"><Relationship Id="rId5" Type="http://schemas.openxmlformats.org/officeDocument/2006/relationships/theme" Target="../theme/theme49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/Relationships>
</file>

<file path=ppt/slideMasters/_rels/slideMaster50.xml.rels><?xml version="1.0" encoding="UTF-8" standalone="yes"?>
<Relationships xmlns="http://schemas.openxmlformats.org/package/2006/relationships"><Relationship Id="rId3" Type="http://schemas.openxmlformats.org/officeDocument/2006/relationships/theme" Target="../theme/theme50.xml"/><Relationship Id="rId2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67.xml"/></Relationships>
</file>

<file path=ppt/slideMasters/_rels/slideMaster51.xml.rels><?xml version="1.0" encoding="UTF-8" standalone="yes"?>
<Relationships xmlns="http://schemas.openxmlformats.org/package/2006/relationships"><Relationship Id="rId3" Type="http://schemas.openxmlformats.org/officeDocument/2006/relationships/theme" Target="../theme/theme51.xml"/><Relationship Id="rId2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17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6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5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1.jpe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9.png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1" Type="http://schemas.openxmlformats.org/officeDocument/2006/relationships/slideLayout" Target="../slideLayouts/slideLayout16.xml"/><Relationship Id="rId10" Type="http://schemas.openxmlformats.org/officeDocument/2006/relationships/image" Target="../media/image46.png"/><Relationship Id="rId1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9.png"/><Relationship Id="rId1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9.png"/><Relationship Id="rId1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7" Type="http://schemas.openxmlformats.org/officeDocument/2006/relationships/image" Target="../media/image29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29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29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6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3" Type="http://schemas.openxmlformats.org/officeDocument/2006/relationships/slideLayout" Target="../slideLayouts/slideLayout16.xml"/><Relationship Id="rId12" Type="http://schemas.openxmlformats.org/officeDocument/2006/relationships/image" Target="../media/image77.png"/><Relationship Id="rId11" Type="http://schemas.openxmlformats.org/officeDocument/2006/relationships/image" Target="../media/image76.png"/><Relationship Id="rId10" Type="http://schemas.openxmlformats.org/officeDocument/2006/relationships/image" Target="../media/image75.png"/><Relationship Id="rId1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image" Target="../media/image85.png"/><Relationship Id="rId7" Type="http://schemas.openxmlformats.org/officeDocument/2006/relationships/image" Target="../media/image84.png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29.png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96.png"/><Relationship Id="rId2" Type="http://schemas.openxmlformats.org/officeDocument/2006/relationships/image" Target="../media/image90.png"/><Relationship Id="rId1" Type="http://schemas.openxmlformats.org/officeDocument/2006/relationships/image" Target="../media/image9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9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8.jpeg"/><Relationship Id="rId1" Type="http://schemas.openxmlformats.org/officeDocument/2006/relationships/image" Target="../media/image10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9.png"/><Relationship Id="rId1" Type="http://schemas.openxmlformats.org/officeDocument/2006/relationships/image" Target="../media/image11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9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1.GIF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2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13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kumimoji="1" lang="en-US" altLang="zh-CN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Linux</a:t>
            </a:r>
            <a:r>
              <a:rPr kumimoji="1" lang="zh-CN" altLang="en-US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环境和</a:t>
            </a:r>
            <a:r>
              <a:rPr kumimoji="1" lang="en-US" altLang="zh-CN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Linux</a:t>
            </a:r>
            <a:r>
              <a:rPr kumimoji="1" lang="zh-CN" altLang="en-US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命令</a:t>
            </a:r>
            <a:endParaRPr kumimoji="1" lang="zh-CN" altLang="en-US" sz="4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计算机概述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操作系统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/>
              <a:t>VMware</a:t>
            </a:r>
            <a:r>
              <a:rPr lang="zh-CN" altLang="en-US" dirty="0">
                <a:solidFill>
                  <a:schemeClr val="tx1"/>
                </a:solidFill>
              </a:rPr>
              <a:t>虚拟机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Finallshell</a:t>
            </a:r>
            <a:r>
              <a:rPr lang="zh-CN" altLang="en-US" dirty="0">
                <a:solidFill>
                  <a:schemeClr val="tx1"/>
                </a:solidFill>
              </a:rPr>
              <a:t>客户端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常用基础命令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vi/vim</a:t>
            </a:r>
            <a:r>
              <a:rPr lang="zh-CN" altLang="en-US" dirty="0">
                <a:solidFill>
                  <a:schemeClr val="tx1"/>
                </a:solidFill>
              </a:rPr>
              <a:t>文本编辑器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计算机概述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操作系统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/>
              <a:t>VMware</a:t>
            </a:r>
            <a:r>
              <a:rPr lang="zh-CN" altLang="en-US" dirty="0">
                <a:solidFill>
                  <a:schemeClr val="tx1"/>
                </a:solidFill>
              </a:rPr>
              <a:t>虚拟机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Finallshell</a:t>
            </a:r>
            <a:r>
              <a:rPr lang="zh-CN" altLang="en-US" dirty="0">
                <a:solidFill>
                  <a:schemeClr val="tx1"/>
                </a:solidFill>
              </a:rPr>
              <a:t>客户端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常用基础命令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vi/vim</a:t>
            </a:r>
            <a:r>
              <a:rPr lang="zh-CN" altLang="en-US" dirty="0">
                <a:solidFill>
                  <a:schemeClr val="tx1"/>
                </a:solidFill>
              </a:rPr>
              <a:t>文本编辑器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90108" y="960434"/>
            <a:ext cx="6298881" cy="4855845"/>
          </a:xfrm>
        </p:spPr>
        <p:txBody>
          <a:bodyPr/>
          <a:lstStyle/>
          <a:p>
            <a:r>
              <a:rPr lang="zh-CN" altLang="en-US" dirty="0"/>
              <a:t>能够说出计算机有哪两部分组成</a:t>
            </a:r>
            <a:endParaRPr lang="en-US" altLang="zh-CN" dirty="0"/>
          </a:p>
          <a:p>
            <a:r>
              <a:rPr lang="zh-CN" altLang="en-US" dirty="0">
                <a:solidFill>
                  <a:schemeClr val="tx1"/>
                </a:solidFill>
              </a:rPr>
              <a:t>能够说出操作系统的作用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kumimoji="1"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计算机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10880" y="1635973"/>
            <a:ext cx="97332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计算机（</a:t>
            </a:r>
            <a:r>
              <a:rPr lang="en-GB" altLang="zh-CN" sz="1600" dirty="0">
                <a:solidFill>
                  <a:srgbClr val="262626"/>
                </a:solidFill>
                <a:ea typeface="Alibaba PuHuiTi R" pitchFamily="18" charset="-122"/>
              </a:rPr>
              <a:t>computer</a:t>
            </a:r>
            <a:r>
              <a:rPr lang="zh-CN" altLang="en-GB" sz="1600" dirty="0">
                <a:solidFill>
                  <a:srgbClr val="262626"/>
                </a:solidFill>
                <a:ea typeface="Alibaba PuHuiTi R" pitchFamily="18" charset="-122"/>
              </a:rPr>
              <a:t>）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俗称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电脑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，是现代一种用于高速计算的电子机器，可以进行数值计算，又可以进行逻辑</a:t>
            </a:r>
            <a:endParaRPr lang="en-US" altLang="zh-CN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判断，还具有存储记忆功能，且能够按照程序的运行，自动、高速处理数据，通俗理解就是一个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存储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和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计算</a:t>
            </a:r>
            <a:endParaRPr lang="en-US" altLang="zh-CN" sz="1600" dirty="0">
              <a:solidFill>
                <a:srgbClr val="C00000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数据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的电子设备</a:t>
            </a:r>
            <a:endParaRPr lang="zh-CN" altLang="en-US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5339" y="2527327"/>
            <a:ext cx="3668886" cy="41735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计算机组成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计算机通常是由两部分组成的：</a:t>
            </a:r>
            <a:r>
              <a:rPr lang="zh-CN" altLang="en-US" b="1" dirty="0"/>
              <a:t>硬件资源 </a:t>
            </a:r>
            <a:r>
              <a:rPr lang="en-US" altLang="zh-CN" b="1" dirty="0"/>
              <a:t>+ </a:t>
            </a:r>
            <a:r>
              <a:rPr lang="zh-CN" altLang="en-US" b="1" dirty="0"/>
              <a:t>软件资源</a:t>
            </a:r>
            <a:endParaRPr lang="en-US" altLang="zh-CN" b="1" dirty="0"/>
          </a:p>
          <a:p>
            <a:r>
              <a:rPr lang="zh-CN" altLang="en-US" dirty="0"/>
              <a:t>硬件资源：所谓的硬件资源就是看得见、摸得着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软件资源：所谓的软件资源就是看得见、摸不着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670" y="2709919"/>
            <a:ext cx="5170488" cy="12791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670" y="4661194"/>
            <a:ext cx="6530906" cy="15850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541020" y="782320"/>
            <a:ext cx="9845675" cy="1229995"/>
          </a:xfr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262626"/>
                </a:solidFill>
                <a:latin typeface="+mn-lt"/>
                <a:ea typeface="Alibaba PuHuiTi R" pitchFamily="18" charset="-122"/>
                <a:cs typeface="+mn-cs"/>
              </a:rPr>
              <a:t>硬件系统</a:t>
            </a:r>
            <a:endParaRPr lang="zh-CN" altLang="en-US" b="1" dirty="0">
              <a:solidFill>
                <a:srgbClr val="262626"/>
              </a:solidFill>
              <a:latin typeface="+mn-lt"/>
              <a:ea typeface="Alibaba PuHuiTi R" pitchFamily="18" charset="-122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262626"/>
                </a:solidFill>
                <a:sym typeface="+mn-ea"/>
              </a:rPr>
              <a:t>计算机硬件主要由</a:t>
            </a:r>
            <a:r>
              <a:rPr lang="en-US" altLang="zh-CN" dirty="0">
                <a:solidFill>
                  <a:srgbClr val="262626"/>
                </a:solidFill>
                <a:sym typeface="+mn-ea"/>
              </a:rPr>
              <a:t>CPU</a:t>
            </a:r>
            <a:r>
              <a:rPr lang="zh-CN" altLang="en-US" dirty="0">
                <a:solidFill>
                  <a:srgbClr val="262626"/>
                </a:solidFill>
                <a:sym typeface="+mn-ea"/>
              </a:rPr>
              <a:t>（运算器和控制器）、存储设备、输入输出设备组成。</a:t>
            </a:r>
            <a:endParaRPr lang="zh-CN" altLang="en-US" dirty="0">
              <a:solidFill>
                <a:srgbClr val="262626"/>
              </a:solidFill>
              <a:latin typeface="+mn-lt"/>
              <a:ea typeface="Alibaba PuHuiTi R" pitchFamily="18" charset="-122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262626"/>
                </a:solidFill>
                <a:latin typeface="+mn-lt"/>
                <a:ea typeface="Alibaba PuHuiTi R" pitchFamily="18" charset="-122"/>
                <a:cs typeface="+mn-cs"/>
              </a:rPr>
              <a:t>从</a:t>
            </a:r>
            <a:r>
              <a:rPr lang="en-GB" altLang="zh-CN" dirty="0">
                <a:solidFill>
                  <a:srgbClr val="262626"/>
                </a:solidFill>
                <a:latin typeface="+mn-lt"/>
                <a:ea typeface="Alibaba PuHuiTi R" pitchFamily="18" charset="-122"/>
                <a:cs typeface="+mn-cs"/>
              </a:rPr>
              <a:t>ENIAC(</a:t>
            </a:r>
            <a:r>
              <a:rPr lang="zh-CN" altLang="en-US" dirty="0">
                <a:solidFill>
                  <a:srgbClr val="262626"/>
                </a:solidFill>
                <a:latin typeface="+mn-lt"/>
                <a:ea typeface="Alibaba PuHuiTi R" pitchFamily="18" charset="-122"/>
                <a:cs typeface="+mn-cs"/>
              </a:rPr>
              <a:t>世界上第一台计算机</a:t>
            </a:r>
            <a:r>
              <a:rPr lang="en-US" altLang="zh-CN" dirty="0">
                <a:solidFill>
                  <a:srgbClr val="262626"/>
                </a:solidFill>
                <a:latin typeface="+mn-lt"/>
                <a:ea typeface="Alibaba PuHuiTi R" pitchFamily="18" charset="-122"/>
                <a:cs typeface="+mn-cs"/>
              </a:rPr>
              <a:t>)</a:t>
            </a:r>
            <a:r>
              <a:rPr lang="zh-CN" altLang="en-US" dirty="0">
                <a:solidFill>
                  <a:srgbClr val="262626"/>
                </a:solidFill>
                <a:latin typeface="+mn-lt"/>
                <a:ea typeface="Alibaba PuHuiTi R" pitchFamily="18" charset="-122"/>
                <a:cs typeface="+mn-cs"/>
              </a:rPr>
              <a:t>到当前最先进的计算机，硬件系统的设计采用的都是 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Alibaba PuHuiTi R" pitchFamily="18" charset="-122"/>
                <a:cs typeface="+mn-cs"/>
              </a:rPr>
              <a:t>冯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Alibaba PuHuiTi R" pitchFamily="18" charset="-122"/>
                <a:cs typeface="+mn-cs"/>
              </a:rPr>
              <a:t>·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Alibaba PuHuiTi R" pitchFamily="18" charset="-122"/>
                <a:cs typeface="+mn-cs"/>
              </a:rPr>
              <a:t>诺依曼体系结构</a:t>
            </a:r>
            <a:endParaRPr lang="zh-CN" altLang="en-US" dirty="0">
              <a:solidFill>
                <a:srgbClr val="C00000"/>
              </a:solidFill>
              <a:latin typeface="+mn-lt"/>
              <a:ea typeface="Alibaba PuHuiTi R" pitchFamily="18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9790" y="5243195"/>
            <a:ext cx="10397490" cy="13233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运算器</a:t>
            </a:r>
            <a:r>
              <a:rPr lang="en-US" altLang="zh-CN" sz="1600" dirty="0">
                <a:solidFill>
                  <a:srgbClr val="C00000"/>
                </a:solidFill>
                <a:ea typeface="Alibaba PuHuiTi R" pitchFamily="18" charset="-122"/>
              </a:rPr>
              <a:t>: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　负责数据的算术运算和逻辑运算，即数据的加工处理。</a:t>
            </a:r>
            <a:endParaRPr lang="en-US" altLang="zh-CN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控制器</a:t>
            </a:r>
            <a:r>
              <a:rPr lang="en-US" altLang="zh-CN" sz="1600" dirty="0">
                <a:solidFill>
                  <a:srgbClr val="C00000"/>
                </a:solidFill>
                <a:ea typeface="Alibaba PuHuiTi R" pitchFamily="18" charset="-122"/>
              </a:rPr>
              <a:t>: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　是整个计算机的中枢神经，根据程序要求进行控制，协调计算机各部分组件工作及内存与外设的访问等。</a:t>
            </a:r>
            <a:endParaRPr lang="en-US" altLang="zh-CN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存储器</a:t>
            </a:r>
            <a:r>
              <a:rPr lang="en-US" altLang="zh-CN" sz="1600" dirty="0">
                <a:solidFill>
                  <a:srgbClr val="C00000"/>
                </a:solidFill>
                <a:ea typeface="Alibaba PuHuiTi R" pitchFamily="18" charset="-122"/>
              </a:rPr>
              <a:t>: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　实现记忆功能的部件，用来存储程序、数据和各种信号、命令等信息，并在需要时提供这些信息</a:t>
            </a:r>
            <a:r>
              <a:rPr lang="zh-CN" altLang="en-US" dirty="0"/>
              <a:t>。</a:t>
            </a:r>
            <a:endParaRPr lang="zh-CN" altLang="en-US" dirty="0"/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27689" y="2168238"/>
            <a:ext cx="451412" cy="1897176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输入设备</a:t>
            </a:r>
            <a:endParaRPr lang="zh-CN" altLang="en-US" sz="1400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10381" y="2168238"/>
            <a:ext cx="451412" cy="1897176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输出设备</a:t>
            </a:r>
            <a:endParaRPr lang="zh-CN" altLang="en-US" sz="1400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47322" y="2324227"/>
            <a:ext cx="1322408" cy="626961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运算器</a:t>
            </a:r>
            <a:endParaRPr lang="zh-CN" altLang="en-US" sz="1400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058384" y="2324227"/>
            <a:ext cx="1322408" cy="626961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控制器</a:t>
            </a:r>
            <a:endParaRPr lang="zh-CN" altLang="en-US" sz="1400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96390" y="3312133"/>
            <a:ext cx="1322408" cy="626961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内存储器</a:t>
            </a:r>
            <a:endParaRPr lang="zh-CN" altLang="en-US" sz="1400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96390" y="4500781"/>
            <a:ext cx="1322408" cy="626961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外存储器</a:t>
            </a:r>
            <a:endParaRPr lang="zh-CN" altLang="en-US" sz="1400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5" name="直接箭头连接符 59"/>
          <p:cNvCxnSpPr/>
          <p:nvPr/>
        </p:nvCxnSpPr>
        <p:spPr>
          <a:xfrm flipV="1">
            <a:off x="5571560" y="3931219"/>
            <a:ext cx="0" cy="569562"/>
          </a:xfrm>
          <a:prstGeom prst="straightConnector1">
            <a:avLst/>
          </a:prstGeom>
          <a:ln w="19050">
            <a:solidFill>
              <a:srgbClr val="49504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59"/>
          <p:cNvCxnSpPr/>
          <p:nvPr/>
        </p:nvCxnSpPr>
        <p:spPr>
          <a:xfrm flipH="1">
            <a:off x="6057701" y="3939094"/>
            <a:ext cx="683" cy="561687"/>
          </a:xfrm>
          <a:prstGeom prst="straightConnector1">
            <a:avLst/>
          </a:prstGeom>
          <a:ln w="19050">
            <a:solidFill>
              <a:srgbClr val="49504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171463" y="2168238"/>
            <a:ext cx="5116010" cy="2036073"/>
          </a:xfrm>
          <a:prstGeom prst="rect">
            <a:avLst/>
          </a:prstGeom>
          <a:noFill/>
          <a:ln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" name="直接箭头连接符 59"/>
          <p:cNvCxnSpPr/>
          <p:nvPr/>
        </p:nvCxnSpPr>
        <p:spPr>
          <a:xfrm>
            <a:off x="2379101" y="3168564"/>
            <a:ext cx="792362" cy="0"/>
          </a:xfrm>
          <a:prstGeom prst="straightConnector1">
            <a:avLst/>
          </a:prstGeom>
          <a:ln w="19050">
            <a:solidFill>
              <a:srgbClr val="49504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59"/>
          <p:cNvCxnSpPr/>
          <p:nvPr/>
        </p:nvCxnSpPr>
        <p:spPr>
          <a:xfrm>
            <a:off x="8287473" y="3128936"/>
            <a:ext cx="622908" cy="0"/>
          </a:xfrm>
          <a:prstGeom prst="straightConnector1">
            <a:avLst/>
          </a:prstGeom>
          <a:ln w="19050">
            <a:solidFill>
              <a:srgbClr val="49504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>
            <a:endCxn id="12" idx="1"/>
          </p:cNvCxnSpPr>
          <p:nvPr/>
        </p:nvCxnSpPr>
        <p:spPr>
          <a:xfrm>
            <a:off x="5369730" y="2637708"/>
            <a:ext cx="688654" cy="0"/>
          </a:xfrm>
          <a:prstGeom prst="line">
            <a:avLst/>
          </a:prstGeom>
          <a:ln>
            <a:solidFill>
              <a:srgbClr val="495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/>
          <p:cNvCxnSpPr/>
          <p:nvPr/>
        </p:nvCxnSpPr>
        <p:spPr>
          <a:xfrm>
            <a:off x="5223712" y="2952259"/>
            <a:ext cx="0" cy="360945"/>
          </a:xfrm>
          <a:prstGeom prst="line">
            <a:avLst/>
          </a:prstGeom>
          <a:ln>
            <a:solidFill>
              <a:srgbClr val="495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/>
          <p:cNvCxnSpPr/>
          <p:nvPr/>
        </p:nvCxnSpPr>
        <p:spPr>
          <a:xfrm>
            <a:off x="6325236" y="2948463"/>
            <a:ext cx="0" cy="360945"/>
          </a:xfrm>
          <a:prstGeom prst="line">
            <a:avLst/>
          </a:prstGeom>
          <a:ln>
            <a:solidFill>
              <a:srgbClr val="495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软件系统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635973"/>
            <a:ext cx="1210588" cy="791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①系统软件</a:t>
            </a:r>
            <a:endParaRPr lang="en-US" altLang="zh-CN" sz="1600" dirty="0">
              <a:solidFill>
                <a:srgbClr val="C00000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②应用软件</a:t>
            </a:r>
            <a:endParaRPr lang="zh-CN" altLang="en-US" sz="1600" dirty="0">
              <a:solidFill>
                <a:srgbClr val="C00000"/>
              </a:solidFill>
              <a:ea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0880" y="2577654"/>
            <a:ext cx="4851008" cy="30076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rgbClr val="C00000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操作系统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: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 管理和控制计算机软硬件资源的系统软件</a:t>
            </a:r>
            <a:endParaRPr lang="en-US" altLang="zh-CN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是所有软件的基础和核心</a:t>
            </a:r>
            <a:endParaRPr lang="en-US" altLang="zh-CN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编译程序</a:t>
            </a:r>
            <a:r>
              <a:rPr lang="en-US" altLang="zh-CN" sz="1600" dirty="0">
                <a:solidFill>
                  <a:srgbClr val="C00000"/>
                </a:solidFill>
                <a:ea typeface="Alibaba PuHuiTi R" pitchFamily="18" charset="-122"/>
              </a:rPr>
              <a:t>: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 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编程语言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(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如</a:t>
            </a:r>
            <a:r>
              <a:rPr lang="en-GB" altLang="zh-CN" sz="1600" dirty="0">
                <a:solidFill>
                  <a:srgbClr val="262626"/>
                </a:solidFill>
                <a:ea typeface="Alibaba PuHuiTi R" pitchFamily="18" charset="-122"/>
              </a:rPr>
              <a:t>Python)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所编写的程序，翻译</a:t>
            </a:r>
            <a:endParaRPr lang="en-US" altLang="zh-CN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成计算机可执行的机器语言</a:t>
            </a:r>
            <a:endParaRPr lang="en-US" altLang="zh-CN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应用软件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: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 音乐播放器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,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电脑游戏等实现各种用户需求</a:t>
            </a:r>
            <a:endParaRPr lang="zh-CN" altLang="en-US" sz="16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447099" y="1457271"/>
            <a:ext cx="4514127" cy="399326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99395" y="1805287"/>
            <a:ext cx="3209533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ea typeface="Alibaba PuHuiTi R" pitchFamily="18" charset="-122"/>
              </a:rPr>
              <a:t>应用软件</a:t>
            </a:r>
            <a:r>
              <a:rPr lang="en-US" altLang="zh-CN" sz="1600" dirty="0">
                <a:solidFill>
                  <a:schemeClr val="bg1"/>
                </a:solidFill>
                <a:ea typeface="Alibaba PuHuiTi R" pitchFamily="18" charset="-122"/>
              </a:rPr>
              <a:t>:</a:t>
            </a:r>
            <a:r>
              <a:rPr lang="zh-CN" altLang="en-US" sz="1600" dirty="0">
                <a:solidFill>
                  <a:schemeClr val="bg1"/>
                </a:solidFill>
                <a:ea typeface="Alibaba PuHuiTi R" pitchFamily="18" charset="-122"/>
              </a:rPr>
              <a:t> 音乐播放器</a:t>
            </a:r>
            <a:r>
              <a:rPr lang="en-US" altLang="zh-CN" sz="1600" dirty="0">
                <a:solidFill>
                  <a:schemeClr val="bg1"/>
                </a:solidFill>
                <a:ea typeface="Alibaba PuHuiTi R" pitchFamily="18" charset="-122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ea typeface="Alibaba PuHuiTi R" pitchFamily="18" charset="-122"/>
              </a:rPr>
              <a:t>电脑游戏等</a:t>
            </a:r>
            <a:endParaRPr lang="zh-CN" altLang="en-US" sz="1600" dirty="0">
              <a:solidFill>
                <a:schemeClr val="bg1"/>
              </a:solidFill>
              <a:ea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865426" y="2305424"/>
            <a:ext cx="3702260" cy="282332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166847" y="2428886"/>
            <a:ext cx="3004349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ea typeface="Alibaba PuHuiTi R" pitchFamily="18" charset="-122"/>
              </a:rPr>
              <a:t>系统软件</a:t>
            </a:r>
            <a:r>
              <a:rPr lang="en-US" altLang="zh-CN" sz="1600" dirty="0">
                <a:solidFill>
                  <a:schemeClr val="bg1"/>
                </a:solidFill>
                <a:ea typeface="Alibaba PuHuiTi R" pitchFamily="18" charset="-122"/>
              </a:rPr>
              <a:t>:</a:t>
            </a:r>
            <a:r>
              <a:rPr lang="zh-CN" altLang="en-US" sz="1600" dirty="0">
                <a:solidFill>
                  <a:schemeClr val="bg1"/>
                </a:solidFill>
                <a:ea typeface="Alibaba PuHuiTi R" pitchFamily="18" charset="-122"/>
              </a:rPr>
              <a:t> 操作系统</a:t>
            </a:r>
            <a:r>
              <a:rPr lang="en-US" altLang="zh-CN" sz="1600" dirty="0">
                <a:solidFill>
                  <a:schemeClr val="bg1"/>
                </a:solidFill>
                <a:ea typeface="Alibaba PuHuiTi R" pitchFamily="18" charset="-122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ea typeface="Alibaba PuHuiTi R" pitchFamily="18" charset="-122"/>
              </a:rPr>
              <a:t>编译程序等</a:t>
            </a:r>
            <a:endParaRPr lang="zh-CN" altLang="en-US" sz="1600" dirty="0">
              <a:solidFill>
                <a:schemeClr val="bg1"/>
              </a:solidFill>
              <a:ea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275976" y="3153577"/>
            <a:ext cx="3000463" cy="151102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硬件系统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05155" y="1096645"/>
            <a:ext cx="10981690" cy="1178560"/>
          </a:xfrm>
        </p:spPr>
        <p:txBody>
          <a:bodyPr/>
          <a:lstStyle/>
          <a:p>
            <a:r>
              <a:rPr b="0">
                <a:solidFill>
                  <a:srgbClr val="262626"/>
                </a:solidFill>
                <a:sym typeface="+mn-ea"/>
              </a:rPr>
              <a:t>操作系统</a:t>
            </a:r>
            <a:endParaRPr lang="en-US" altLang="zh-CN" b="0">
              <a:solidFill>
                <a:srgbClr val="262626"/>
              </a:solidFill>
              <a:sym typeface="+mn-ea"/>
            </a:endParaRPr>
          </a:p>
          <a:p>
            <a:endParaRPr lang="en-US" altLang="zh-CN" b="0">
              <a:solidFill>
                <a:srgbClr val="262626"/>
              </a:solidFill>
              <a:sym typeface="+mn-ea"/>
            </a:endParaRPr>
          </a:p>
          <a:p>
            <a:pPr indent="457200"/>
            <a:r>
              <a:rPr lang="en-US" altLang="zh-CN" b="0">
                <a:solidFill>
                  <a:srgbClr val="262626"/>
                </a:solidFill>
                <a:sym typeface="+mn-ea"/>
              </a:rPr>
              <a:t>OS</a:t>
            </a:r>
            <a:r>
              <a:rPr b="0">
                <a:solidFill>
                  <a:srgbClr val="262626"/>
                </a:solidFill>
                <a:sym typeface="+mn-ea"/>
              </a:rPr>
              <a:t>（</a:t>
            </a:r>
            <a:r>
              <a:rPr lang="en-US" altLang="zh-CN" b="0">
                <a:solidFill>
                  <a:srgbClr val="262626"/>
                </a:solidFill>
                <a:sym typeface="+mn-ea"/>
              </a:rPr>
              <a:t>Operating System</a:t>
            </a:r>
            <a:r>
              <a:rPr b="0">
                <a:solidFill>
                  <a:srgbClr val="262626"/>
                </a:solidFill>
                <a:sym typeface="+mn-ea"/>
              </a:rPr>
              <a:t>）</a:t>
            </a:r>
            <a:r>
              <a:rPr b="0">
                <a:solidFill>
                  <a:srgbClr val="262626"/>
                </a:solidFill>
                <a:sym typeface="+mn-ea"/>
              </a:rPr>
              <a:t>是管理和控制计算机硬件与软件资源的计算机程序，是直接运行在“裸机”上的最基本的系统软件，任何其他软件都必须在操作系统的支持下才能运行。</a:t>
            </a:r>
            <a:endParaRPr lang="en-US" altLang="zh-CN" b="0" dirty="0">
              <a:solidFill>
                <a:srgbClr val="AD2B26"/>
              </a:solidFill>
            </a:endParaRPr>
          </a:p>
          <a:p>
            <a:endParaRPr kumimoji="1"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5995" y="2640466"/>
            <a:ext cx="7562850" cy="36671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PC</a:t>
            </a:r>
            <a:r>
              <a:rPr dirty="0"/>
              <a:t>端操作系统</a:t>
            </a:r>
            <a:endParaRPr dirty="0"/>
          </a:p>
        </p:txBody>
      </p:sp>
      <p:pic>
        <p:nvPicPr>
          <p:cNvPr id="5" name="图片 4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6203" y="3168157"/>
            <a:ext cx="2070100" cy="110236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6" name="文本框 11"/>
          <p:cNvSpPr txBox="1"/>
          <p:nvPr>
            <p:custDataLst>
              <p:tags r:id="rId3"/>
            </p:custDataLst>
          </p:nvPr>
        </p:nvSpPr>
        <p:spPr>
          <a:xfrm>
            <a:off x="1803993" y="4596644"/>
            <a:ext cx="219657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用户友好，软件生态丰富，适合家庭、办公、游戏</a:t>
            </a: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85090" y="3144339"/>
            <a:ext cx="2058670" cy="115316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8" name="文本框 15"/>
          <p:cNvSpPr txBox="1"/>
          <p:nvPr>
            <p:custDataLst>
              <p:tags r:id="rId6"/>
            </p:custDataLst>
          </p:nvPr>
        </p:nvSpPr>
        <p:spPr>
          <a:xfrm>
            <a:off x="7685090" y="4577556"/>
            <a:ext cx="2271862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开源安全、可定制，适合服务器、嵌入式系统</a:t>
            </a:r>
            <a:r>
              <a:rPr kumimoji="1"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9" name="图片 8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814338" y="3209698"/>
            <a:ext cx="1984695" cy="117386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25"/>
          <p:cNvSpPr txBox="1"/>
          <p:nvPr>
            <p:custDataLst>
              <p:tags r:id="rId9"/>
            </p:custDataLst>
          </p:nvPr>
        </p:nvSpPr>
        <p:spPr>
          <a:xfrm>
            <a:off x="4793166" y="4596645"/>
            <a:ext cx="222897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稳定流畅，与苹果设备协同，适合设计、开发</a:t>
            </a: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文本占位符 6"/>
          <p:cNvSpPr>
            <a:spLocks noGrp="1"/>
          </p:cNvSpPr>
          <p:nvPr/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主要有</a:t>
            </a:r>
            <a:r>
              <a:rPr lang="en-US" altLang="zh-CN" dirty="0">
                <a:solidFill>
                  <a:schemeClr val="tx1"/>
                </a:solidFill>
              </a:rPr>
              <a:t>Windows</a:t>
            </a:r>
            <a:r>
              <a:rPr lang="zh-CN" altLang="en-US" dirty="0">
                <a:solidFill>
                  <a:schemeClr val="tx1"/>
                </a:solidFill>
              </a:rPr>
              <a:t>（微软）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macOS</a:t>
            </a:r>
            <a:r>
              <a:rPr lang="zh-CN" altLang="en-US" dirty="0">
                <a:solidFill>
                  <a:schemeClr val="tx1"/>
                </a:solidFill>
              </a:rPr>
              <a:t>（苹果）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（开源社区）</a:t>
            </a:r>
            <a:r>
              <a:rPr lang="zh-CN" altLang="en-US" dirty="0">
                <a:solidFill>
                  <a:schemeClr val="tx1"/>
                </a:solidFill>
              </a:rPr>
              <a:t>等。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主要有</a:t>
            </a:r>
            <a:r>
              <a:rPr lang="en-US" altLang="zh-CN" dirty="0">
                <a:solidFill>
                  <a:schemeClr val="tx1"/>
                </a:solidFill>
              </a:rPr>
              <a:t>Android</a:t>
            </a:r>
            <a:r>
              <a:rPr lang="zh-CN" altLang="en-US" dirty="0">
                <a:solidFill>
                  <a:schemeClr val="tx1"/>
                </a:solidFill>
              </a:rPr>
              <a:t>（谷歌）、</a:t>
            </a:r>
            <a:r>
              <a:rPr lang="en-US" altLang="zh-CN" dirty="0">
                <a:solidFill>
                  <a:schemeClr val="tx1"/>
                </a:solidFill>
              </a:rPr>
              <a:t>iOS</a:t>
            </a:r>
            <a:r>
              <a:rPr lang="zh-CN" altLang="en-US" dirty="0">
                <a:solidFill>
                  <a:schemeClr val="tx1"/>
                </a:solidFill>
              </a:rPr>
              <a:t>（苹果）、</a:t>
            </a:r>
            <a:r>
              <a:rPr lang="en-US" altLang="zh-CN" dirty="0">
                <a:solidFill>
                  <a:schemeClr val="tx1"/>
                </a:solidFill>
              </a:rPr>
              <a:t>Symbian</a:t>
            </a:r>
            <a:r>
              <a:rPr lang="zh-CN" altLang="en-US" dirty="0">
                <a:solidFill>
                  <a:schemeClr val="tx1"/>
                </a:solidFill>
              </a:rPr>
              <a:t>（诺基亚）、</a:t>
            </a:r>
            <a:r>
              <a:rPr lang="en-US" altLang="zh-CN" dirty="0">
                <a:solidFill>
                  <a:schemeClr val="tx1"/>
                </a:solidFill>
              </a:rPr>
              <a:t>BlackBerry OS</a:t>
            </a:r>
            <a:r>
              <a:rPr lang="zh-CN" altLang="en-US" dirty="0">
                <a:solidFill>
                  <a:schemeClr val="tx1"/>
                </a:solidFill>
              </a:rPr>
              <a:t>（黑莓）、</a:t>
            </a:r>
            <a:r>
              <a:rPr lang="en-US" altLang="zh-CN" dirty="0">
                <a:solidFill>
                  <a:schemeClr val="tx1"/>
                </a:solidFill>
              </a:rPr>
              <a:t>windows mobile</a:t>
            </a:r>
            <a:r>
              <a:rPr lang="zh-CN" altLang="en-US" dirty="0">
                <a:solidFill>
                  <a:schemeClr val="tx1"/>
                </a:solidFill>
              </a:rPr>
              <a:t>（微软）、</a:t>
            </a:r>
            <a:r>
              <a:rPr lang="en-US" altLang="zh-CN" dirty="0">
                <a:solidFill>
                  <a:schemeClr val="tx1"/>
                </a:solidFill>
              </a:rPr>
              <a:t>Harmony</a:t>
            </a:r>
            <a:r>
              <a:rPr lang="zh-CN" altLang="en-US" dirty="0">
                <a:solidFill>
                  <a:schemeClr val="tx1"/>
                </a:solidFill>
              </a:rPr>
              <a:t>（华为鸿蒙）等。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移动设备操作系统</a:t>
            </a:r>
            <a:endParaRPr lang="zh-CN" altLang="en-US" dirty="0"/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3448524" y="3214648"/>
            <a:ext cx="5274310" cy="30105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126583" y="1463040"/>
            <a:ext cx="6505973" cy="4511040"/>
          </a:xfrm>
        </p:spPr>
        <p:txBody>
          <a:bodyPr/>
          <a:lstStyle/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Alibaba PuHuiTi R" pitchFamily="18" charset="-122"/>
              </a:rPr>
              <a:t>1</a:t>
            </a:r>
            <a:r>
              <a:rPr lang="zh-CN" altLang="en-US" dirty="0">
                <a:ea typeface="Alibaba PuHuiTi R" pitchFamily="18" charset="-122"/>
              </a:rPr>
              <a:t> 计算机系统</a:t>
            </a:r>
            <a:r>
              <a:rPr lang="en-US" altLang="zh-CN" dirty="0">
                <a:ea typeface="Alibaba PuHuiTi R" pitchFamily="18" charset="-122"/>
              </a:rPr>
              <a:t>:</a:t>
            </a:r>
            <a:r>
              <a:rPr lang="zh-CN" altLang="en-US" dirty="0">
                <a:ea typeface="Alibaba PuHuiTi R" pitchFamily="18" charset="-122"/>
              </a:rPr>
              <a:t> </a:t>
            </a:r>
            <a:endParaRPr lang="en-US" altLang="zh-CN" dirty="0">
              <a:ea typeface="Alibaba PuHuiTi R" pitchFamily="18" charset="-122"/>
            </a:endParaRP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C00000"/>
                </a:solidFill>
                <a:ea typeface="Alibaba PuHuiTi R" pitchFamily="18" charset="-122"/>
              </a:rPr>
              <a:t>	</a:t>
            </a:r>
            <a:r>
              <a:rPr lang="zh-CN" altLang="en-US" dirty="0">
                <a:solidFill>
                  <a:srgbClr val="C00000"/>
                </a:solidFill>
                <a:ea typeface="Alibaba PuHuiTi R" pitchFamily="18" charset="-122"/>
              </a:rPr>
              <a:t>①硬件系统</a:t>
            </a:r>
            <a:endParaRPr lang="en-US" altLang="zh-CN" dirty="0">
              <a:solidFill>
                <a:srgbClr val="C00000"/>
              </a:solidFill>
              <a:ea typeface="Alibaba PuHuiTi R" pitchFamily="18" charset="-122"/>
            </a:endParaRP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C00000"/>
                </a:solidFill>
                <a:ea typeface="Alibaba PuHuiTi R" pitchFamily="18" charset="-122"/>
              </a:rPr>
              <a:t>	</a:t>
            </a:r>
            <a:r>
              <a:rPr lang="zh-CN" altLang="en-US" dirty="0">
                <a:solidFill>
                  <a:srgbClr val="C00000"/>
                </a:solidFill>
                <a:ea typeface="Alibaba PuHuiTi R" pitchFamily="18" charset="-122"/>
              </a:rPr>
              <a:t>②软件系统</a:t>
            </a:r>
            <a:endParaRPr lang="en-US" altLang="zh-CN" dirty="0">
              <a:solidFill>
                <a:srgbClr val="C00000"/>
              </a:solidFill>
              <a:ea typeface="Alibaba PuHuiTi R" pitchFamily="18" charset="-122"/>
            </a:endParaRP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ea typeface="Alibaba PuHuiTi R" pitchFamily="18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ea typeface="Alibaba PuHuiTi R" pitchFamily="18" charset="-122"/>
              </a:rPr>
              <a:t>2</a:t>
            </a:r>
            <a:r>
              <a:rPr lang="zh-CN" altLang="en-US" dirty="0">
                <a:ea typeface="Alibaba PuHuiTi R" pitchFamily="18" charset="-122"/>
              </a:rPr>
              <a:t> 硬件系统</a:t>
            </a:r>
            <a:r>
              <a:rPr lang="en-US" altLang="zh-CN" dirty="0">
                <a:ea typeface="Alibaba PuHuiTi R" pitchFamily="18" charset="-122"/>
              </a:rPr>
              <a:t>:</a:t>
            </a:r>
            <a:r>
              <a:rPr lang="zh-CN" altLang="en-US" dirty="0">
                <a:ea typeface="Alibaba PuHuiTi R" pitchFamily="18" charset="-122"/>
              </a:rPr>
              <a:t> </a:t>
            </a:r>
            <a:endParaRPr lang="en-US" altLang="zh-CN" dirty="0">
              <a:ea typeface="Alibaba PuHuiTi R" pitchFamily="18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ea typeface="Alibaba PuHuiTi R" pitchFamily="18" charset="-122"/>
              </a:rPr>
              <a:t>	</a:t>
            </a:r>
            <a:r>
              <a:rPr lang="zh-CN" altLang="en-US" dirty="0">
                <a:ea typeface="Alibaba PuHuiTi R" pitchFamily="18" charset="-122"/>
              </a:rPr>
              <a:t>硬件系统的设计采用的都是 </a:t>
            </a:r>
            <a:r>
              <a:rPr lang="zh-CN" altLang="en-US" dirty="0">
                <a:solidFill>
                  <a:srgbClr val="C00000"/>
                </a:solidFill>
                <a:ea typeface="Alibaba PuHuiTi R" pitchFamily="18" charset="-122"/>
              </a:rPr>
              <a:t>冯</a:t>
            </a:r>
            <a:r>
              <a:rPr lang="en-US" altLang="zh-CN" dirty="0">
                <a:solidFill>
                  <a:srgbClr val="C00000"/>
                </a:solidFill>
                <a:ea typeface="Alibaba PuHuiTi R" pitchFamily="18" charset="-122"/>
              </a:rPr>
              <a:t>·</a:t>
            </a:r>
            <a:r>
              <a:rPr lang="zh-CN" altLang="en-US" dirty="0">
                <a:solidFill>
                  <a:srgbClr val="C00000"/>
                </a:solidFill>
                <a:ea typeface="Alibaba PuHuiTi R" pitchFamily="18" charset="-122"/>
              </a:rPr>
              <a:t>诺依曼体系结构</a:t>
            </a:r>
            <a:endParaRPr lang="en-US" altLang="zh-CN" dirty="0">
              <a:solidFill>
                <a:srgbClr val="C00000"/>
              </a:solidFill>
              <a:ea typeface="Alibaba PuHuiTi R" pitchFamily="18" charset="-122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dirty="0">
              <a:ea typeface="Alibaba PuHuiTi R" pitchFamily="18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ea typeface="Alibaba PuHuiTi R" pitchFamily="18" charset="-122"/>
              </a:rPr>
              <a:t>3</a:t>
            </a:r>
            <a:r>
              <a:rPr lang="zh-CN" altLang="en-US" dirty="0">
                <a:ea typeface="Alibaba PuHuiTi R" pitchFamily="18" charset="-122"/>
              </a:rPr>
              <a:t> 软件系统</a:t>
            </a:r>
            <a:r>
              <a:rPr lang="en-US" altLang="zh-CN" dirty="0">
                <a:ea typeface="Alibaba PuHuiTi R" pitchFamily="18" charset="-122"/>
              </a:rPr>
              <a:t>:</a:t>
            </a:r>
            <a:r>
              <a:rPr lang="zh-CN" altLang="en-US" dirty="0">
                <a:ea typeface="Alibaba PuHuiTi R" pitchFamily="18" charset="-122"/>
              </a:rPr>
              <a:t> </a:t>
            </a:r>
            <a:endParaRPr lang="en-US" altLang="zh-CN" dirty="0">
              <a:ea typeface="Alibaba PuHuiTi R" pitchFamily="18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ea typeface="Alibaba PuHuiTi R" pitchFamily="18" charset="-122"/>
              </a:rPr>
              <a:t>	</a:t>
            </a:r>
            <a:r>
              <a:rPr lang="zh-CN" altLang="en-US" dirty="0">
                <a:solidFill>
                  <a:srgbClr val="C00000"/>
                </a:solidFill>
                <a:ea typeface="Alibaba PuHuiTi R" pitchFamily="18" charset="-122"/>
              </a:rPr>
              <a:t>①系统软件</a:t>
            </a:r>
            <a:r>
              <a:rPr lang="en-US" altLang="zh-CN" dirty="0">
                <a:solidFill>
                  <a:srgbClr val="C00000"/>
                </a:solidFill>
                <a:ea typeface="Alibaba PuHuiTi R" pitchFamily="18" charset="-122"/>
              </a:rPr>
              <a:t>:</a:t>
            </a:r>
            <a:r>
              <a:rPr lang="zh-CN" altLang="en-US" dirty="0">
                <a:solidFill>
                  <a:srgbClr val="C00000"/>
                </a:solidFill>
                <a:ea typeface="Alibaba PuHuiTi R" pitchFamily="18" charset="-122"/>
              </a:rPr>
              <a:t> </a:t>
            </a:r>
            <a:r>
              <a:rPr lang="zh-CN" altLang="en-US" dirty="0">
                <a:ea typeface="Alibaba PuHuiTi R" pitchFamily="18" charset="-122"/>
              </a:rPr>
              <a:t>承上启下的作用</a:t>
            </a:r>
            <a:endParaRPr lang="en-US" altLang="zh-CN" dirty="0">
              <a:ea typeface="Alibaba PuHuiTi R" pitchFamily="18" charset="-122"/>
            </a:endParaRP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ea typeface="Alibaba PuHuiTi R" pitchFamily="18" charset="-122"/>
              </a:rPr>
              <a:t>	</a:t>
            </a:r>
            <a:r>
              <a:rPr lang="zh-CN" altLang="en-US" dirty="0">
                <a:solidFill>
                  <a:srgbClr val="C00000"/>
                </a:solidFill>
                <a:ea typeface="Alibaba PuHuiTi R" pitchFamily="18" charset="-122"/>
              </a:rPr>
              <a:t>②应用软件</a:t>
            </a:r>
            <a:endParaRPr lang="zh-CN" altLang="en-US" dirty="0">
              <a:solidFill>
                <a:srgbClr val="C00000"/>
              </a:solidFill>
              <a:ea typeface="Alibaba PuHuiTi R" pitchFamily="18" charset="-122"/>
            </a:endParaRP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rgbClr val="C00000"/>
              </a:solidFill>
              <a:ea typeface="Alibaba PuHuiTi R" pitchFamily="18" charset="-122"/>
            </a:endParaRP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tx1"/>
                </a:solidFill>
                <a:ea typeface="Alibaba PuHuiTi R" pitchFamily="18" charset="-122"/>
              </a:rPr>
              <a:t>4 </a:t>
            </a:r>
            <a:r>
              <a:rPr kumimoji="1" lang="zh-CN" altLang="en-US" dirty="0">
                <a:sym typeface="+mn-ea"/>
              </a:rPr>
              <a:t>常见</a:t>
            </a:r>
            <a:r>
              <a:rPr kumimoji="1" lang="en-US" altLang="zh-CN" dirty="0">
                <a:sym typeface="+mn-ea"/>
              </a:rPr>
              <a:t>PC</a:t>
            </a:r>
            <a:r>
              <a:rPr kumimoji="1" dirty="0">
                <a:sym typeface="+mn-ea"/>
              </a:rPr>
              <a:t>端</a:t>
            </a:r>
            <a:r>
              <a:rPr kumimoji="1" lang="zh-CN" altLang="en-US" dirty="0">
                <a:sym typeface="+mn-ea"/>
              </a:rPr>
              <a:t>操作系统</a:t>
            </a:r>
            <a:r>
              <a:rPr lang="en-US" altLang="zh-CN" dirty="0">
                <a:solidFill>
                  <a:srgbClr val="C00000"/>
                </a:solidFill>
                <a:ea typeface="Alibaba PuHuiTi R" pitchFamily="18" charset="-122"/>
              </a:rPr>
              <a:t> </a:t>
            </a:r>
            <a:endParaRPr lang="en-US" altLang="zh-CN" dirty="0">
              <a:solidFill>
                <a:srgbClr val="C00000"/>
              </a:solidFill>
              <a:ea typeface="Alibaba PuHuiTi R" pitchFamily="18" charset="-122"/>
            </a:endParaRPr>
          </a:p>
          <a:p>
            <a:pPr marL="457200" lvl="1" indent="4572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rgbClr val="C00000"/>
              </a:solidFill>
              <a:ea typeface="Alibaba PuHuiTi R" pitchFamily="18" charset="-122"/>
            </a:endParaRPr>
          </a:p>
          <a:p>
            <a:pPr lvl="1"/>
            <a:r>
              <a:rPr kumimoji="1" lang="en-US" altLang="zh-CN" dirty="0">
                <a:solidFill>
                  <a:srgbClr val="FF0000"/>
                </a:solidFill>
                <a:sym typeface="+mn-ea"/>
              </a:rPr>
              <a:t>    </a:t>
            </a:r>
            <a:r>
              <a:rPr lang="zh-CN" altLang="en-US" sz="18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Alibaba PuHuiTi R" pitchFamily="18" charset="-122"/>
                <a:cs typeface="阿里巴巴普惠体" panose="00020600040101010101" pitchFamily="18" charset="-122"/>
                <a:sym typeface="+mn-ea"/>
              </a:rPr>
              <a:t>Windows系统</a:t>
            </a:r>
            <a:r>
              <a:rPr lang="en-US" altLang="zh-CN" sz="18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Alibaba PuHuiTi R" pitchFamily="18" charset="-122"/>
                <a:cs typeface="阿里巴巴普惠体" panose="00020600040101010101" pitchFamily="18" charset="-122"/>
                <a:sym typeface="+mn-ea"/>
              </a:rPr>
              <a:t>  Mac</a:t>
            </a:r>
            <a:r>
              <a:rPr lang="zh-CN" altLang="en-US" sz="18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Alibaba PuHuiTi R" pitchFamily="18" charset="-122"/>
                <a:cs typeface="阿里巴巴普惠体" panose="00020600040101010101" pitchFamily="18" charset="-122"/>
                <a:sym typeface="+mn-ea"/>
              </a:rPr>
              <a:t>系统</a:t>
            </a:r>
            <a:r>
              <a:rPr lang="en-US" altLang="zh-CN" sz="18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Alibaba PuHuiTi R" pitchFamily="18" charset="-122"/>
                <a:cs typeface="阿里巴巴普惠体" panose="00020600040101010101" pitchFamily="18" charset="-122"/>
                <a:sym typeface="+mn-ea"/>
              </a:rPr>
              <a:t>  Linux</a:t>
            </a:r>
            <a:r>
              <a:rPr lang="zh-CN" altLang="en-US" sz="18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Alibaba PuHuiTi R" pitchFamily="18" charset="-122"/>
                <a:cs typeface="阿里巴巴普惠体" panose="00020600040101010101" pitchFamily="18" charset="-122"/>
                <a:sym typeface="+mn-ea"/>
              </a:rPr>
              <a:t>系统</a:t>
            </a:r>
            <a:endParaRPr lang="zh-CN" altLang="en-US" sz="1800" b="0" dirty="0">
              <a:solidFill>
                <a:srgbClr val="C00000"/>
              </a:solidFill>
              <a:latin typeface="阿里巴巴普惠体" panose="00020600040101010101" pitchFamily="18" charset="-122"/>
              <a:ea typeface="Alibaba PuHuiTi R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计算机概述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Linux</a:t>
            </a:r>
            <a:r>
              <a:rPr lang="zh-CN" altLang="en-US" dirty="0">
                <a:solidFill>
                  <a:srgbClr val="C00000"/>
                </a:solidFill>
              </a:rPr>
              <a:t>操作系统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VMware</a:t>
            </a:r>
            <a:r>
              <a:rPr lang="zh-CN" altLang="en-US" dirty="0">
                <a:solidFill>
                  <a:schemeClr val="tx1"/>
                </a:solidFill>
              </a:rPr>
              <a:t>虚拟机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Finallshell</a:t>
            </a:r>
            <a:r>
              <a:rPr lang="zh-CN" altLang="en-US" dirty="0">
                <a:solidFill>
                  <a:schemeClr val="tx1"/>
                </a:solidFill>
              </a:rPr>
              <a:t>客户端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常用基础命令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vi/vim</a:t>
            </a:r>
            <a:r>
              <a:rPr lang="zh-CN" altLang="en-US" dirty="0">
                <a:solidFill>
                  <a:schemeClr val="tx1"/>
                </a:solidFill>
              </a:rPr>
              <a:t>文本编辑器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772920"/>
            <a:ext cx="6298565" cy="2592705"/>
          </a:xfrm>
        </p:spPr>
        <p:txBody>
          <a:bodyPr/>
          <a:p>
            <a:pPr marL="0" indent="0">
              <a:buNone/>
            </a:pPr>
            <a:r>
              <a:rPr lang="zh-CN">
                <a:solidFill>
                  <a:schemeClr val="tx1"/>
                </a:solidFill>
              </a:rPr>
              <a:t>了解</a:t>
            </a:r>
            <a:r>
              <a:rPr lang="en-US" altLang="zh-CN">
                <a:solidFill>
                  <a:schemeClr val="tx1"/>
                </a:solidFill>
              </a:rPr>
              <a:t>Linux</a:t>
            </a:r>
            <a:r>
              <a:rPr lang="zh-CN" altLang="en-US">
                <a:solidFill>
                  <a:schemeClr val="tx1"/>
                </a:solidFill>
              </a:rPr>
              <a:t>系统发展史</a:t>
            </a:r>
            <a:endParaRPr lang="zh-CN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Unix</a:t>
            </a:r>
            <a:r>
              <a:rPr lang="zh-CN" altLang="en-US" dirty="0"/>
              <a:t>系统是较早被广泛使用的计算机操作系统之一，由</a:t>
            </a:r>
            <a:r>
              <a:rPr lang="en-US" altLang="zh-CN" dirty="0"/>
              <a:t>Ken Thompson</a:t>
            </a:r>
            <a:r>
              <a:rPr lang="zh-CN" altLang="en-US" dirty="0"/>
              <a:t>在</a:t>
            </a:r>
            <a:r>
              <a:rPr lang="en-US" altLang="zh-CN" dirty="0"/>
              <a:t>AT&amp;T</a:t>
            </a:r>
            <a:r>
              <a:rPr lang="zh-CN" altLang="en-US" dirty="0"/>
              <a:t>贝尔实验室实现；</a:t>
            </a:r>
            <a:endParaRPr lang="en-US" altLang="zh-CN" dirty="0"/>
          </a:p>
          <a:p>
            <a:r>
              <a:rPr lang="en-US" altLang="zh-CN" dirty="0"/>
              <a:t>Unix</a:t>
            </a:r>
            <a:r>
              <a:rPr lang="zh-CN" altLang="en-US" dirty="0"/>
              <a:t>系统后续发展中，因开源，版权等问题陷入不断纠纷，延伸出不同</a:t>
            </a:r>
            <a:r>
              <a:rPr lang="en-US" altLang="zh-CN" dirty="0"/>
              <a:t>Unix</a:t>
            </a:r>
            <a:r>
              <a:rPr lang="zh-CN" altLang="en-US" dirty="0"/>
              <a:t>版本；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1991</a:t>
            </a:r>
            <a:r>
              <a:rPr lang="zh-CN" altLang="en-US" dirty="0"/>
              <a:t>年芬兰学生</a:t>
            </a:r>
            <a:r>
              <a:rPr lang="en-US" altLang="zh-CN" dirty="0">
                <a:solidFill>
                  <a:srgbClr val="C00000"/>
                </a:solidFill>
              </a:rPr>
              <a:t>Linus Torvalds</a:t>
            </a:r>
            <a:r>
              <a:rPr lang="zh-CN" altLang="en-US" dirty="0"/>
              <a:t>发布</a:t>
            </a:r>
            <a:r>
              <a:rPr lang="en-US" altLang="zh-CN" dirty="0"/>
              <a:t>Linux</a:t>
            </a:r>
            <a:r>
              <a:rPr lang="zh-CN" altLang="en-US" dirty="0"/>
              <a:t>系统第一个版本，</a:t>
            </a:r>
            <a:r>
              <a:rPr lang="en-US" altLang="zh-CN" dirty="0"/>
              <a:t> </a:t>
            </a:r>
            <a:r>
              <a:rPr lang="zh-CN" altLang="en-US" dirty="0"/>
              <a:t>遵循</a:t>
            </a:r>
            <a:r>
              <a:rPr lang="en-US" altLang="zh-CN" dirty="0"/>
              <a:t>GPL</a:t>
            </a:r>
            <a:r>
              <a:rPr lang="zh-CN" altLang="en-US" dirty="0"/>
              <a:t>协议（通用公共许可证），</a:t>
            </a:r>
            <a:r>
              <a:rPr lang="zh-CN" altLang="en-US" dirty="0">
                <a:solidFill>
                  <a:srgbClr val="C00000"/>
                </a:solidFill>
              </a:rPr>
              <a:t>开源免费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Linux</a:t>
            </a:r>
            <a:r>
              <a:rPr lang="zh-CN" altLang="en-US" dirty="0"/>
              <a:t>是一个</a:t>
            </a:r>
            <a:r>
              <a:rPr lang="zh-CN" altLang="en-US" dirty="0">
                <a:solidFill>
                  <a:srgbClr val="C00000"/>
                </a:solidFill>
              </a:rPr>
              <a:t>类似</a:t>
            </a:r>
            <a:r>
              <a:rPr lang="en-US" altLang="zh-CN" dirty="0">
                <a:solidFill>
                  <a:srgbClr val="C00000"/>
                </a:solidFill>
              </a:rPr>
              <a:t>Unix</a:t>
            </a:r>
            <a:r>
              <a:rPr lang="zh-CN" altLang="en-US" dirty="0"/>
              <a:t>的操作系统，</a:t>
            </a:r>
            <a:r>
              <a:rPr lang="en-US" altLang="zh-CN" dirty="0"/>
              <a:t>Linux</a:t>
            </a:r>
            <a:r>
              <a:rPr lang="zh-CN" altLang="en-US" dirty="0"/>
              <a:t>的初衷就是要替代</a:t>
            </a:r>
            <a:r>
              <a:rPr lang="en-US" altLang="zh-CN" dirty="0"/>
              <a:t>Unix</a:t>
            </a:r>
            <a:r>
              <a:rPr lang="zh-CN" altLang="en-US" dirty="0"/>
              <a:t>，并在功能和用户体验上进行优化，所以</a:t>
            </a:r>
            <a:r>
              <a:rPr lang="en-US" altLang="zh-CN" dirty="0"/>
              <a:t>Linux</a:t>
            </a:r>
            <a:r>
              <a:rPr lang="zh-CN" altLang="en-US" dirty="0"/>
              <a:t>模仿了</a:t>
            </a:r>
            <a:r>
              <a:rPr lang="en-US" altLang="zh-CN" dirty="0"/>
              <a:t>Unix</a:t>
            </a:r>
            <a:r>
              <a:rPr lang="zh-CN" altLang="en-US" dirty="0"/>
              <a:t>（但并没有抄袭</a:t>
            </a:r>
            <a:r>
              <a:rPr lang="en-US" altLang="zh-CN" dirty="0"/>
              <a:t>Unix</a:t>
            </a:r>
            <a:r>
              <a:rPr lang="zh-CN" altLang="en-US" dirty="0"/>
              <a:t>的源码），使得</a:t>
            </a:r>
            <a:r>
              <a:rPr lang="en-US" altLang="zh-CN" dirty="0"/>
              <a:t>Linux</a:t>
            </a:r>
            <a:r>
              <a:rPr lang="zh-CN" altLang="en-US" dirty="0"/>
              <a:t>在外观和交互上与</a:t>
            </a:r>
            <a:r>
              <a:rPr lang="en-US" altLang="zh-CN" dirty="0"/>
              <a:t>Unix</a:t>
            </a:r>
            <a:r>
              <a:rPr lang="zh-CN" altLang="en-US" dirty="0"/>
              <a:t>非常类似。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起源与发展</a:t>
            </a:r>
            <a:endParaRPr lang="zh-CN" altLang="en-US" dirty="0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4123055" y="3780790"/>
            <a:ext cx="3924300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513715" y="1073150"/>
            <a:ext cx="10749915" cy="1969770"/>
          </a:xfrm>
        </p:spPr>
        <p:txBody>
          <a:bodyPr/>
          <a:lstStyle/>
          <a:p>
            <a:pPr marL="342900" lvl="0" indent="-342900">
              <a:spcBef>
                <a:spcPts val="360"/>
              </a:spcBef>
              <a:spcAft>
                <a:spcPts val="360"/>
              </a:spcAft>
              <a:buFont typeface="Wingdings" panose="05000000000000000000" pitchFamily="2" charset="2"/>
              <a:buChar char=""/>
            </a:pPr>
            <a:r>
              <a:rPr lang="en-US" altLang="zh-CN" dirty="0">
                <a:solidFill>
                  <a:srgbClr val="262626"/>
                </a:solidFill>
              </a:rPr>
              <a:t>Linux</a:t>
            </a:r>
            <a:r>
              <a:rPr lang="zh-CN" altLang="zh-CN" dirty="0">
                <a:solidFill>
                  <a:srgbClr val="262626"/>
                </a:solidFill>
              </a:rPr>
              <a:t>创始人——林纳斯 托瓦兹</a:t>
            </a:r>
            <a:endParaRPr lang="en-US" altLang="zh-CN" dirty="0">
              <a:solidFill>
                <a:srgbClr val="262626"/>
              </a:solidFill>
            </a:endParaRPr>
          </a:p>
          <a:p>
            <a:pPr marL="342900" indent="-342900">
              <a:spcBef>
                <a:spcPts val="360"/>
              </a:spcBef>
              <a:spcAft>
                <a:spcPts val="360"/>
              </a:spcAft>
              <a:buFont typeface="Wingdings" panose="05000000000000000000" pitchFamily="2" charset="2"/>
              <a:buChar char=""/>
            </a:pPr>
            <a:r>
              <a:rPr lang="en-US" altLang="zh-CN" dirty="0">
                <a:solidFill>
                  <a:srgbClr val="262626"/>
                </a:solidFill>
              </a:rPr>
              <a:t>Linux </a:t>
            </a:r>
            <a:r>
              <a:rPr lang="zh-CN" altLang="zh-CN" dirty="0">
                <a:solidFill>
                  <a:srgbClr val="262626"/>
                </a:solidFill>
              </a:rPr>
              <a:t>诞生于</a:t>
            </a:r>
            <a:r>
              <a:rPr lang="en-US" altLang="zh-CN" dirty="0">
                <a:solidFill>
                  <a:srgbClr val="262626"/>
                </a:solidFill>
              </a:rPr>
              <a:t>1991</a:t>
            </a:r>
            <a:r>
              <a:rPr lang="zh-CN" altLang="zh-CN" dirty="0">
                <a:solidFill>
                  <a:srgbClr val="262626"/>
                </a:solidFill>
              </a:rPr>
              <a:t>年，作者上大学期间实现的</a:t>
            </a:r>
            <a:endParaRPr lang="zh-CN" altLang="zh-CN" dirty="0">
              <a:solidFill>
                <a:srgbClr val="262626"/>
              </a:solidFill>
            </a:endParaRPr>
          </a:p>
          <a:p>
            <a:pPr marL="342900" indent="-342900">
              <a:spcBef>
                <a:spcPts val="360"/>
              </a:spcBef>
              <a:spcAft>
                <a:spcPts val="360"/>
              </a:spcAft>
              <a:buFont typeface="Wingdings" panose="05000000000000000000" pitchFamily="2" charset="2"/>
              <a:buChar char=""/>
            </a:pPr>
            <a:r>
              <a:rPr lang="en-US" altLang="zh-CN" dirty="0">
                <a:solidFill>
                  <a:srgbClr val="262626"/>
                </a:solidFill>
              </a:rPr>
              <a:t>Linux</a:t>
            </a:r>
            <a:r>
              <a:rPr lang="zh-CN" altLang="zh-CN" dirty="0">
                <a:solidFill>
                  <a:srgbClr val="262626"/>
                </a:solidFill>
              </a:rPr>
              <a:t>的特点：</a:t>
            </a:r>
            <a:r>
              <a:rPr lang="zh-CN" altLang="zh-CN" b="1" dirty="0">
                <a:solidFill>
                  <a:srgbClr val="FF0000"/>
                </a:solidFill>
              </a:rPr>
              <a:t>开源、免费</a:t>
            </a:r>
            <a:r>
              <a:rPr lang="zh-CN" altLang="zh-CN" dirty="0">
                <a:solidFill>
                  <a:srgbClr val="262626"/>
                </a:solidFill>
              </a:rPr>
              <a:t>、拥有最为庞大的源码贡献者</a:t>
            </a:r>
            <a:endParaRPr lang="en-US" altLang="zh-CN" dirty="0">
              <a:solidFill>
                <a:srgbClr val="262626"/>
              </a:solidFill>
            </a:endParaRPr>
          </a:p>
          <a:p>
            <a:pPr marL="342900" indent="-342900">
              <a:spcBef>
                <a:spcPts val="360"/>
              </a:spcBef>
              <a:spcAft>
                <a:spcPts val="360"/>
              </a:spcAft>
              <a:buFont typeface="Wingdings" panose="05000000000000000000" pitchFamily="2" charset="2"/>
              <a:buChar char=""/>
            </a:pPr>
            <a:r>
              <a:rPr lang="en-US" altLang="zh-CN" dirty="0"/>
              <a:t>Linux</a:t>
            </a:r>
            <a:r>
              <a:rPr lang="zh-CN" altLang="en-US" dirty="0"/>
              <a:t>的吉祥物是企鹅</a:t>
            </a:r>
            <a:endParaRPr lang="zh-CN" altLang="en-US" dirty="0"/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549" y="3280793"/>
            <a:ext cx="2483498" cy="2671642"/>
          </a:xfrm>
          <a:prstGeom prst="rect">
            <a:avLst/>
          </a:prstGeom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836" y="3104860"/>
            <a:ext cx="2628447" cy="315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513474" y="1073300"/>
            <a:ext cx="9908820" cy="1445965"/>
          </a:xfrm>
        </p:spPr>
        <p:txBody>
          <a:bodyPr/>
          <a:lstStyle/>
          <a:p>
            <a:pPr marL="342900" lvl="0" indent="-342900">
              <a:spcBef>
                <a:spcPts val="360"/>
              </a:spcBef>
              <a:spcAft>
                <a:spcPts val="360"/>
              </a:spcAft>
              <a:buFont typeface="Wingdings" panose="05000000000000000000" pitchFamily="2" charset="2"/>
              <a:buChar char=""/>
            </a:pPr>
            <a:r>
              <a:rPr lang="en-US" altLang="zh-CN" dirty="0">
                <a:solidFill>
                  <a:srgbClr val="262626"/>
                </a:solidFill>
              </a:rPr>
              <a:t>Linux</a:t>
            </a:r>
            <a:r>
              <a:rPr lang="zh-CN" altLang="zh-CN" dirty="0">
                <a:solidFill>
                  <a:srgbClr val="262626"/>
                </a:solidFill>
              </a:rPr>
              <a:t>操作系统本身是一个整体，包括</a:t>
            </a:r>
            <a:r>
              <a:rPr lang="en-US" altLang="zh-CN" dirty="0">
                <a:solidFill>
                  <a:srgbClr val="262626"/>
                </a:solidFill>
              </a:rPr>
              <a:t>Linux</a:t>
            </a:r>
            <a:r>
              <a:rPr lang="zh-CN" altLang="zh-CN" dirty="0">
                <a:solidFill>
                  <a:srgbClr val="262626"/>
                </a:solidFill>
              </a:rPr>
              <a:t>内核、系统库和系统程序，</a:t>
            </a:r>
            <a:r>
              <a:rPr lang="en-US" altLang="zh-CN" dirty="0">
                <a:solidFill>
                  <a:srgbClr val="262626"/>
                </a:solidFill>
              </a:rPr>
              <a:t>Linux</a:t>
            </a:r>
            <a:r>
              <a:rPr lang="zh-CN" altLang="zh-CN" dirty="0">
                <a:solidFill>
                  <a:srgbClr val="262626"/>
                </a:solidFill>
              </a:rPr>
              <a:t>内核是其最基础的部分</a:t>
            </a:r>
            <a:r>
              <a:rPr lang="zh-CN" altLang="en-US" dirty="0">
                <a:solidFill>
                  <a:srgbClr val="262626"/>
                </a:solidFill>
              </a:rPr>
              <a:t>。</a:t>
            </a:r>
            <a:endParaRPr lang="zh-CN" altLang="zh-CN" dirty="0">
              <a:solidFill>
                <a:srgbClr val="262626"/>
              </a:solidFill>
            </a:endParaRPr>
          </a:p>
          <a:p>
            <a:pPr marL="342900" indent="-342900">
              <a:spcBef>
                <a:spcPts val="360"/>
              </a:spcBef>
              <a:spcAft>
                <a:spcPts val="360"/>
              </a:spcAft>
              <a:buFont typeface="Wingdings" panose="05000000000000000000" pitchFamily="2" charset="2"/>
              <a:buChar char=""/>
            </a:pPr>
            <a:r>
              <a:rPr lang="zh-CN" altLang="zh-CN" dirty="0">
                <a:solidFill>
                  <a:srgbClr val="262626"/>
                </a:solidFill>
              </a:rPr>
              <a:t>自发布</a:t>
            </a:r>
            <a:r>
              <a:rPr lang="en-US" altLang="zh-CN" dirty="0">
                <a:solidFill>
                  <a:srgbClr val="262626"/>
                </a:solidFill>
              </a:rPr>
              <a:t>Linux</a:t>
            </a:r>
            <a:r>
              <a:rPr lang="zh-CN" altLang="zh-CN" dirty="0">
                <a:solidFill>
                  <a:srgbClr val="262626"/>
                </a:solidFill>
              </a:rPr>
              <a:t>内核来，很多公司加入其中，在内核的基础上构建了自己的操作系统版本，被称为</a:t>
            </a:r>
            <a:r>
              <a:rPr lang="en-US" altLang="zh-CN" dirty="0">
                <a:solidFill>
                  <a:srgbClr val="262626"/>
                </a:solidFill>
              </a:rPr>
              <a:t>Linux</a:t>
            </a:r>
            <a:r>
              <a:rPr lang="zh-CN" altLang="zh-CN" dirty="0">
                <a:solidFill>
                  <a:srgbClr val="262626"/>
                </a:solidFill>
              </a:rPr>
              <a:t>的发行版。</a:t>
            </a:r>
            <a:endParaRPr lang="zh-CN" altLang="zh-CN" dirty="0">
              <a:solidFill>
                <a:srgbClr val="262626"/>
              </a:solidFill>
            </a:endParaRP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368888" y="2480673"/>
            <a:ext cx="8197468" cy="3566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650475" y="912176"/>
            <a:ext cx="7769374" cy="550287"/>
          </a:xfrm>
        </p:spPr>
        <p:txBody>
          <a:bodyPr/>
          <a:lstStyle/>
          <a:p>
            <a:pPr marL="342900" indent="-342900">
              <a:spcBef>
                <a:spcPts val="360"/>
              </a:spcBef>
              <a:spcAft>
                <a:spcPts val="360"/>
              </a:spcAft>
              <a:buFont typeface="Wingdings" panose="05000000000000000000" pitchFamily="2" charset="2"/>
              <a:buChar char=""/>
            </a:pPr>
            <a:r>
              <a:rPr lang="en-US" altLang="zh-CN" dirty="0">
                <a:solidFill>
                  <a:srgbClr val="262626"/>
                </a:solidFill>
              </a:rPr>
              <a:t>Redhat</a:t>
            </a:r>
            <a:r>
              <a:rPr lang="zh-CN" altLang="en-US" dirty="0">
                <a:solidFill>
                  <a:srgbClr val="262626"/>
                </a:solidFill>
              </a:rPr>
              <a:t>：全球最大的</a:t>
            </a:r>
            <a:r>
              <a:rPr lang="en-US" altLang="zh-CN" dirty="0">
                <a:solidFill>
                  <a:srgbClr val="262626"/>
                </a:solidFill>
              </a:rPr>
              <a:t>Linux</a:t>
            </a:r>
            <a:r>
              <a:rPr lang="zh-CN" altLang="en-US" dirty="0">
                <a:solidFill>
                  <a:srgbClr val="262626"/>
                </a:solidFill>
              </a:rPr>
              <a:t>发行厂商，功能全面、稳定。</a:t>
            </a:r>
            <a:r>
              <a:rPr lang="en-US" altLang="zh-CN" dirty="0">
                <a:solidFill>
                  <a:srgbClr val="262626"/>
                </a:solidFill>
              </a:rPr>
              <a:t>2018</a:t>
            </a:r>
            <a:r>
              <a:rPr lang="zh-CN" altLang="en-US" dirty="0">
                <a:solidFill>
                  <a:srgbClr val="262626"/>
                </a:solidFill>
              </a:rPr>
              <a:t>年，被</a:t>
            </a:r>
            <a:r>
              <a:rPr lang="en-US" altLang="zh-CN" dirty="0">
                <a:solidFill>
                  <a:srgbClr val="262626"/>
                </a:solidFill>
              </a:rPr>
              <a:t>IBM</a:t>
            </a:r>
            <a:r>
              <a:rPr lang="zh-CN" altLang="en-US" dirty="0">
                <a:solidFill>
                  <a:srgbClr val="262626"/>
                </a:solidFill>
              </a:rPr>
              <a:t>收购。</a:t>
            </a:r>
            <a:endParaRPr lang="zh-CN" altLang="zh-CN" dirty="0">
              <a:solidFill>
                <a:srgbClr val="262626"/>
              </a:solidFill>
            </a:endParaRP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784" y="1307959"/>
            <a:ext cx="2234975" cy="97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占位符 1"/>
          <p:cNvSpPr txBox="1"/>
          <p:nvPr/>
        </p:nvSpPr>
        <p:spPr>
          <a:xfrm>
            <a:off x="589672" y="2264739"/>
            <a:ext cx="9339653" cy="51719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360"/>
              </a:spcBef>
              <a:spcAft>
                <a:spcPts val="360"/>
              </a:spcAft>
              <a:buFont typeface="Wingdings" panose="05000000000000000000" pitchFamily="2" charset="2"/>
              <a:buChar char=""/>
            </a:pPr>
            <a:r>
              <a:rPr lang="en-US" altLang="zh-CN" dirty="0">
                <a:solidFill>
                  <a:srgbClr val="262626"/>
                </a:solidFill>
              </a:rPr>
              <a:t>Ubuntu</a:t>
            </a:r>
            <a:r>
              <a:rPr lang="zh-CN" altLang="en-US" dirty="0">
                <a:solidFill>
                  <a:srgbClr val="262626"/>
                </a:solidFill>
              </a:rPr>
              <a:t>：</a:t>
            </a:r>
            <a:r>
              <a:rPr lang="en-US" altLang="zh-CN" dirty="0">
                <a:solidFill>
                  <a:srgbClr val="262626"/>
                </a:solidFill>
              </a:rPr>
              <a:t>Linux</a:t>
            </a:r>
            <a:r>
              <a:rPr lang="zh-CN" altLang="en-US" dirty="0">
                <a:solidFill>
                  <a:srgbClr val="262626"/>
                </a:solidFill>
              </a:rPr>
              <a:t>桌面操作系统做的最好的。</a:t>
            </a:r>
            <a:endParaRPr kumimoji="1" lang="zh-CN" altLang="en-US" dirty="0"/>
          </a:p>
          <a:p>
            <a:endParaRPr kumimoji="1" lang="zh-CN" altLang="en-US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742" y="2871314"/>
            <a:ext cx="730756" cy="73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占位符 1"/>
          <p:cNvSpPr txBox="1"/>
          <p:nvPr/>
        </p:nvSpPr>
        <p:spPr>
          <a:xfrm>
            <a:off x="650475" y="3676776"/>
            <a:ext cx="9339653" cy="51719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360"/>
              </a:spcBef>
              <a:spcAft>
                <a:spcPts val="360"/>
              </a:spcAft>
              <a:buFont typeface="Wingdings" panose="05000000000000000000" pitchFamily="2" charset="2"/>
              <a:buChar char=""/>
            </a:pPr>
            <a:r>
              <a:rPr lang="en-US" altLang="zh-CN" dirty="0">
                <a:solidFill>
                  <a:srgbClr val="262626"/>
                </a:solidFill>
              </a:rPr>
              <a:t>CentOS</a:t>
            </a:r>
            <a:r>
              <a:rPr lang="zh-CN" altLang="en-US" dirty="0">
                <a:solidFill>
                  <a:srgbClr val="262626"/>
                </a:solidFill>
              </a:rPr>
              <a:t>：目前 </a:t>
            </a:r>
            <a:r>
              <a:rPr lang="en-US" altLang="zh-CN" dirty="0">
                <a:solidFill>
                  <a:srgbClr val="262626"/>
                </a:solidFill>
              </a:rPr>
              <a:t>CentOS </a:t>
            </a:r>
            <a:r>
              <a:rPr lang="zh-CN" altLang="en-US" dirty="0">
                <a:solidFill>
                  <a:srgbClr val="262626"/>
                </a:solidFill>
              </a:rPr>
              <a:t>已经被 </a:t>
            </a:r>
            <a:r>
              <a:rPr lang="en-US" altLang="zh-CN" dirty="0">
                <a:solidFill>
                  <a:srgbClr val="262626"/>
                </a:solidFill>
              </a:rPr>
              <a:t>Redhat </a:t>
            </a:r>
            <a:r>
              <a:rPr lang="zh-CN" altLang="en-US" dirty="0">
                <a:solidFill>
                  <a:srgbClr val="262626"/>
                </a:solidFill>
              </a:rPr>
              <a:t>公司收购，但是依然免费。</a:t>
            </a:r>
            <a:endParaRPr kumimoji="1" lang="zh-CN" altLang="en-US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630" y="4392086"/>
            <a:ext cx="2486906" cy="707615"/>
          </a:xfrm>
          <a:prstGeom prst="rect">
            <a:avLst/>
          </a:prstGeom>
        </p:spPr>
      </p:pic>
      <p:sp>
        <p:nvSpPr>
          <p:cNvPr id="15" name="文本占位符 1"/>
          <p:cNvSpPr txBox="1"/>
          <p:nvPr/>
        </p:nvSpPr>
        <p:spPr>
          <a:xfrm>
            <a:off x="710880" y="5304689"/>
            <a:ext cx="9339653" cy="51719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360"/>
              </a:spcBef>
              <a:spcAft>
                <a:spcPts val="360"/>
              </a:spcAft>
              <a:buFont typeface="Wingdings" panose="05000000000000000000" pitchFamily="2" charset="2"/>
              <a:buChar char=""/>
            </a:pPr>
            <a:r>
              <a:rPr lang="en-US" altLang="zh-CN" dirty="0">
                <a:solidFill>
                  <a:srgbClr val="262626"/>
                </a:solidFill>
              </a:rPr>
              <a:t>Deepin:</a:t>
            </a:r>
            <a:r>
              <a:rPr lang="zh-CN" altLang="en-US" dirty="0">
                <a:solidFill>
                  <a:srgbClr val="262626"/>
                </a:solidFill>
              </a:rPr>
              <a:t>目前，国内做的最好的一款</a:t>
            </a:r>
            <a:r>
              <a:rPr lang="en-US" altLang="zh-CN" dirty="0">
                <a:solidFill>
                  <a:srgbClr val="262626"/>
                </a:solidFill>
              </a:rPr>
              <a:t>Linux</a:t>
            </a:r>
            <a:r>
              <a:rPr lang="zh-CN" altLang="en-US" dirty="0">
                <a:solidFill>
                  <a:srgbClr val="262626"/>
                </a:solidFill>
              </a:rPr>
              <a:t>发行版。</a:t>
            </a:r>
            <a:endParaRPr kumimoji="1" lang="zh-CN" altLang="en-US" dirty="0"/>
          </a:p>
          <a:p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142" y="5932097"/>
            <a:ext cx="2906846" cy="751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/>
      <p:bldP spid="10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Linux</a:t>
            </a:r>
            <a:r>
              <a:rPr lang="zh-CN" altLang="en-US" dirty="0"/>
              <a:t>诞生时间和创始人</a:t>
            </a:r>
            <a:endParaRPr lang="zh-CN" altLang="en-US" dirty="0"/>
          </a:p>
          <a:p>
            <a:pPr marL="0" indent="457200">
              <a:buNone/>
            </a:pPr>
            <a:r>
              <a:rPr lang="en-US" altLang="zh-CN" dirty="0"/>
              <a:t>Linux</a:t>
            </a:r>
            <a:r>
              <a:rPr lang="zh-CN" altLang="en-US" dirty="0"/>
              <a:t>发行时间</a:t>
            </a:r>
            <a:r>
              <a:rPr lang="en-US" altLang="zh-CN" dirty="0"/>
              <a:t>: 1991</a:t>
            </a:r>
            <a:r>
              <a:rPr lang="zh-CN" altLang="en-US" dirty="0"/>
              <a:t>年</a:t>
            </a:r>
            <a:endParaRPr lang="zh-CN" altLang="en-US" dirty="0"/>
          </a:p>
          <a:p>
            <a:pPr marL="0" indent="457200">
              <a:buNone/>
            </a:pPr>
            <a:r>
              <a:rPr lang="en-US" altLang="zh-CN" dirty="0"/>
              <a:t>Linux</a:t>
            </a:r>
            <a:r>
              <a:rPr lang="zh-CN" altLang="en-US" dirty="0"/>
              <a:t>的创始人</a:t>
            </a:r>
            <a:r>
              <a:rPr lang="en-US" altLang="zh-CN" dirty="0"/>
              <a:t>: </a:t>
            </a:r>
            <a:r>
              <a:rPr lang="zh-CN" altLang="en-US" dirty="0"/>
              <a:t>林纳斯</a:t>
            </a:r>
            <a:r>
              <a:rPr lang="en-US" altLang="zh-CN" dirty="0"/>
              <a:t>·</a:t>
            </a:r>
            <a:r>
              <a:rPr lang="zh-CN" altLang="en-US" dirty="0"/>
              <a:t>托瓦兹</a:t>
            </a:r>
            <a:endParaRPr lang="zh-CN" altLang="en-US" dirty="0"/>
          </a:p>
          <a:p>
            <a:pPr marL="0" indent="0">
              <a:buNone/>
            </a:pPr>
            <a:r>
              <a:rPr lang="en-US" dirty="0"/>
              <a:t>Linux</a:t>
            </a:r>
            <a:r>
              <a:rPr lang="zh-CN" altLang="en-US" dirty="0"/>
              <a:t>常见的发行版</a:t>
            </a:r>
            <a:endParaRPr lang="zh-CN" altLang="en-US" dirty="0"/>
          </a:p>
          <a:p>
            <a:pPr marL="0" indent="457200">
              <a:buNone/>
            </a:pPr>
            <a:r>
              <a:rPr lang="en-US" altLang="zh-CN" sz="18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r>
              <a:rPr lang="zh-CN" sz="18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ent</a:t>
            </a:r>
            <a:r>
              <a:rPr lang="en-US" altLang="zh-CN" sz="18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r>
              <a:rPr lang="zh-CN" sz="18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，Redhat，</a:t>
            </a:r>
            <a:r>
              <a:rPr lang="en-US" altLang="zh-CN" dirty="0">
                <a:solidFill>
                  <a:srgbClr val="262626"/>
                </a:solidFill>
                <a:sym typeface="+mn-ea"/>
              </a:rPr>
              <a:t>Ubuntu</a:t>
            </a:r>
            <a:r>
              <a:rPr lang="zh-CN" sz="18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计算机概述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操作系统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VMware</a:t>
            </a:r>
            <a:r>
              <a:rPr lang="zh-CN" altLang="en-US" dirty="0">
                <a:solidFill>
                  <a:srgbClr val="C00000"/>
                </a:solidFill>
              </a:rPr>
              <a:t>虚拟机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Finallshell</a:t>
            </a:r>
            <a:r>
              <a:rPr lang="zh-CN" altLang="en-US" dirty="0">
                <a:solidFill>
                  <a:schemeClr val="tx1"/>
                </a:solidFill>
              </a:rPr>
              <a:t>客户端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常用基础命令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vi/vim</a:t>
            </a:r>
            <a:r>
              <a:rPr lang="zh-CN" altLang="en-US" dirty="0">
                <a:solidFill>
                  <a:schemeClr val="tx1"/>
                </a:solidFill>
              </a:rPr>
              <a:t>文本编辑器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chemeClr val="tx1"/>
                </a:solidFill>
              </a:rPr>
              <a:t>了解什么是虚拟机</a:t>
            </a:r>
            <a:endParaRPr lang="zh-CN">
              <a:solidFill>
                <a:schemeClr val="tx1"/>
              </a:solidFill>
            </a:endParaRPr>
          </a:p>
          <a:p>
            <a:r>
              <a:rPr lang="zh-CN">
                <a:solidFill>
                  <a:schemeClr val="tx1"/>
                </a:solidFill>
              </a:rPr>
              <a:t>了解为什么要使用虚拟机</a:t>
            </a:r>
            <a:endParaRPr 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虚拟机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学习</a:t>
            </a:r>
            <a:r>
              <a:rPr lang="en-US" altLang="zh-CN"/>
              <a:t>Linux</a:t>
            </a:r>
            <a:r>
              <a:rPr lang="zh-CN" altLang="en-US"/>
              <a:t>系统，就需要有一个可用的</a:t>
            </a:r>
            <a:r>
              <a:rPr lang="en-US" altLang="zh-CN"/>
              <a:t>Linux</a:t>
            </a:r>
            <a:r>
              <a:rPr lang="zh-CN" altLang="en-US"/>
              <a:t>系统。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如何获得？将自己的电脑重装系统为</a:t>
            </a:r>
            <a:r>
              <a:rPr lang="en-US" altLang="zh-CN"/>
              <a:t>Linux</a:t>
            </a:r>
            <a:r>
              <a:rPr lang="zh-CN" altLang="en-US"/>
              <a:t>？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NoNo</a:t>
            </a:r>
            <a:r>
              <a:rPr lang="zh-CN" altLang="en-US"/>
              <a:t>。这不现实，因为</a:t>
            </a:r>
            <a:r>
              <a:rPr lang="en-US" altLang="zh-CN"/>
              <a:t>Linux</a:t>
            </a:r>
            <a:r>
              <a:rPr lang="zh-CN" altLang="en-US"/>
              <a:t>系统并不适合日常办公使用。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我们需要借助虚拟机来获得可用的</a:t>
            </a:r>
            <a:r>
              <a:rPr lang="en-US" altLang="zh-CN"/>
              <a:t>Linux</a:t>
            </a:r>
            <a:r>
              <a:rPr lang="zh-CN" altLang="en-US"/>
              <a:t>系统环境进行学习。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01 (13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4105" y="1386840"/>
            <a:ext cx="3810000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虚拟机搭建方式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那么，什么是虚拟机呢？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借助虚拟化技术，我们可以在系统中，通过软件：模拟计算机硬件，并给虚拟硬件安装真实的操作系统。</a:t>
            </a:r>
            <a:endParaRPr lang="zh-CN" altLang="en-US"/>
          </a:p>
          <a:p>
            <a:r>
              <a:rPr lang="zh-CN" altLang="en-US"/>
              <a:t>这样，就可以在电脑中，虚拟出一个完整的电脑，以供我们学习</a:t>
            </a:r>
            <a:r>
              <a:rPr lang="en-US" altLang="zh-CN"/>
              <a:t>Linux</a:t>
            </a:r>
            <a:r>
              <a:rPr lang="zh-CN" altLang="en-US"/>
              <a:t>系统。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9615" y="2044065"/>
            <a:ext cx="3425190" cy="3283585"/>
          </a:xfrm>
          <a:prstGeom prst="rect">
            <a:avLst/>
          </a:prstGeom>
        </p:spPr>
      </p:pic>
      <p:pic>
        <p:nvPicPr>
          <p:cNvPr id="9" name="图片 8" descr="01 (4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5460" y="5158740"/>
            <a:ext cx="15367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虚拟机搭建步骤</a:t>
            </a:r>
          </a:p>
        </p:txBody>
      </p:sp>
      <p:pic>
        <p:nvPicPr>
          <p:cNvPr id="9" name="图片 8" descr="01 (4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5460" y="5158740"/>
            <a:ext cx="1536700" cy="1536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" y="1663065"/>
            <a:ext cx="9324340" cy="45631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虚拟机效果</a:t>
            </a:r>
            <a:endParaRPr lang="zh-CN" altLang="en-US"/>
          </a:p>
        </p:txBody>
      </p:sp>
      <p:pic>
        <p:nvPicPr>
          <p:cNvPr id="9" name="图片 8" descr="无标题"/>
          <p:cNvPicPr>
            <a:picLocks noChangeAspect="1"/>
          </p:cNvPicPr>
          <p:nvPr/>
        </p:nvPicPr>
        <p:blipFill>
          <a:blip r:embed="rId1"/>
          <a:srcRect b="7639"/>
          <a:stretch>
            <a:fillRect/>
          </a:stretch>
        </p:blipFill>
        <p:spPr>
          <a:xfrm>
            <a:off x="1917700" y="1550035"/>
            <a:ext cx="7776210" cy="4859655"/>
          </a:xfrm>
          <a:prstGeom prst="rect">
            <a:avLst/>
          </a:prstGeom>
        </p:spPr>
      </p:pic>
      <p:pic>
        <p:nvPicPr>
          <p:cNvPr id="3" name="图片 2" descr="01 (4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5460" y="5158740"/>
            <a:ext cx="15367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163310" cy="4511040"/>
          </a:xfrm>
        </p:spPr>
        <p:txBody>
          <a:bodyPr/>
          <a:p>
            <a:pPr marL="0" indent="0">
              <a:lnSpc>
                <a:spcPct val="190000"/>
              </a:lnSpc>
              <a:buNone/>
            </a:pPr>
            <a:r>
              <a:rPr lang="en-US"/>
              <a:t>1. </a:t>
            </a:r>
            <a:r>
              <a:rPr lang="zh-CN" altLang="en-US"/>
              <a:t>什么是虚拟机？</a:t>
            </a:r>
            <a:endParaRPr lang="zh-CN" altLang="en-US"/>
          </a:p>
          <a:p>
            <a:pPr marL="0" indent="0">
              <a:lnSpc>
                <a:spcPct val="190000"/>
              </a:lnSpc>
              <a:buNone/>
            </a:pPr>
            <a:r>
              <a:rPr lang="zh-CN" altLang="en-US" sz="1400">
                <a:sym typeface="+mn-ea"/>
              </a:rPr>
              <a:t>通过虚拟化技术，在电脑内，虚拟出计算机硬件，并给虚拟的硬件安装操作系统，即可得到一台虚拟的电脑，称之为虚拟机。</a:t>
            </a:r>
            <a:endParaRPr lang="zh-CN" altLang="en-US" sz="1400">
              <a:sym typeface="+mn-ea"/>
            </a:endParaRPr>
          </a:p>
          <a:p>
            <a:pPr marL="0" algn="l">
              <a:lnSpc>
                <a:spcPct val="190000"/>
              </a:lnSpc>
              <a:buNone/>
            </a:pPr>
            <a:r>
              <a:rPr lang="zh-CN" altLang="en-US" sz="1800">
                <a:sym typeface="+mn-ea"/>
              </a:rPr>
              <a:t>2. 为什么要使用虚拟机？</a:t>
            </a:r>
            <a:endParaRPr lang="zh-CN" altLang="en-US" sz="1800">
              <a:sym typeface="+mn-ea"/>
            </a:endParaRPr>
          </a:p>
          <a:p>
            <a:pPr marL="0" indent="0">
              <a:lnSpc>
                <a:spcPct val="190000"/>
              </a:lnSpc>
              <a:buNone/>
            </a:pPr>
            <a:r>
              <a:rPr lang="zh-CN" altLang="en-US" sz="1400">
                <a:sym typeface="+mn-ea"/>
              </a:rPr>
              <a:t>学习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系统，需要有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系统环境。</a:t>
            </a:r>
            <a:endParaRPr lang="zh-CN" altLang="en-US" sz="1400">
              <a:sym typeface="+mn-ea"/>
            </a:endParaRPr>
          </a:p>
          <a:p>
            <a:pPr marL="0" indent="0">
              <a:lnSpc>
                <a:spcPct val="190000"/>
              </a:lnSpc>
              <a:buNone/>
            </a:pPr>
            <a:r>
              <a:rPr lang="zh-CN" altLang="en-US" sz="1400">
                <a:sym typeface="+mn-ea"/>
              </a:rPr>
              <a:t>我们不能给自己电脑重装系统为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，所以通过虚拟机的形式，得到可以用的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系统环境，供后续学习使用。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chemeClr val="tx1"/>
                </a:solidFill>
              </a:rPr>
              <a:t>了解</a:t>
            </a:r>
            <a:r>
              <a:rPr lang="en-US" altLang="zh-CN">
                <a:solidFill>
                  <a:schemeClr val="tx1"/>
                </a:solidFill>
              </a:rPr>
              <a:t>VMware WorkStation</a:t>
            </a:r>
            <a:r>
              <a:rPr lang="zh-CN" altLang="en-US">
                <a:solidFill>
                  <a:schemeClr val="tx1"/>
                </a:solidFill>
              </a:rPr>
              <a:t>软件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完成</a:t>
            </a:r>
            <a:r>
              <a:rPr lang="en-US" altLang="zh-CN">
                <a:solidFill>
                  <a:schemeClr val="tx1"/>
                </a:solidFill>
              </a:rPr>
              <a:t>VMware WorkStation</a:t>
            </a:r>
            <a:r>
              <a:rPr lang="zh-CN" altLang="en-US">
                <a:solidFill>
                  <a:schemeClr val="tx1"/>
                </a:solidFill>
              </a:rPr>
              <a:t>软件的安装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虚拟化软件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通过虚拟化技术，可以虚拟出计算机的硬件，那么如何虚拟呢？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我们可以通过提供虚拟化的软件来获得虚拟机。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122" name="图片 121"/>
          <p:cNvPicPr/>
          <p:nvPr/>
        </p:nvPicPr>
        <p:blipFill>
          <a:blip r:embed="rId1"/>
          <a:stretch>
            <a:fillRect/>
          </a:stretch>
        </p:blipFill>
        <p:spPr>
          <a:xfrm>
            <a:off x="2171700" y="3277235"/>
            <a:ext cx="5219700" cy="2860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 descr="01 (10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705" y="5180965"/>
            <a:ext cx="1433195" cy="14331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VMware WorkStation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课程选用</a:t>
            </a:r>
            <a:r>
              <a:rPr lang="en-US" altLang="zh-CN"/>
              <a:t>VMware WorkStation</a:t>
            </a:r>
            <a:r>
              <a:rPr lang="zh-CN" altLang="en-US"/>
              <a:t>软件来提供虚拟机。</a:t>
            </a:r>
            <a:endParaRPr lang="zh-CN" altLang="en-US"/>
          </a:p>
          <a:p>
            <a:r>
              <a:rPr lang="zh-CN" altLang="en-US"/>
              <a:t>下载地址：</a:t>
            </a:r>
            <a:r>
              <a:rPr lang="en-US" altLang="zh-CN"/>
              <a:t> </a:t>
            </a:r>
            <a:r>
              <a:rPr lang="zh-CN" altLang="en-US"/>
              <a:t>https://www.vmware.com/cn/products/workstation-pro.html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2639060"/>
            <a:ext cx="4606925" cy="13201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4218940"/>
            <a:ext cx="4607560" cy="2238375"/>
          </a:xfrm>
          <a:prstGeom prst="rect">
            <a:avLst/>
          </a:prstGeom>
        </p:spPr>
      </p:pic>
      <p:pic>
        <p:nvPicPr>
          <p:cNvPr id="6" name="图片 5" descr="01 (9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5030470"/>
            <a:ext cx="1827530" cy="18275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VMware WorkStation </a:t>
            </a:r>
            <a:r>
              <a:t>安装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1819910"/>
            <a:ext cx="4714875" cy="3733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819910"/>
            <a:ext cx="4524375" cy="3400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1905635"/>
            <a:ext cx="4610100" cy="3619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1867535"/>
            <a:ext cx="4524375" cy="3314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1867535"/>
            <a:ext cx="4572000" cy="33432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1905635"/>
            <a:ext cx="4495800" cy="32956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867535"/>
            <a:ext cx="4514850" cy="32099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858010"/>
            <a:ext cx="4448175" cy="33242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905635"/>
            <a:ext cx="4629150" cy="3352800"/>
          </a:xfrm>
          <a:prstGeom prst="rect">
            <a:avLst/>
          </a:prstGeom>
        </p:spPr>
      </p:pic>
      <p:pic>
        <p:nvPicPr>
          <p:cNvPr id="3" name="图片 2" descr="01 (113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4830" y="5044440"/>
            <a:ext cx="1599565" cy="1599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VMware WorkStation </a:t>
            </a:r>
            <a:r>
              <a:t>安装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软件安装完成后，验证一下网络适配器是否正常</a:t>
            </a:r>
            <a:r>
              <a:rPr lang="zh-CN" altLang="en-US"/>
              <a:t>配置。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b="5319"/>
          <a:stretch>
            <a:fillRect/>
          </a:stretch>
        </p:blipFill>
        <p:spPr>
          <a:xfrm>
            <a:off x="710565" y="2186305"/>
            <a:ext cx="6607810" cy="37865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94065" y="3990975"/>
            <a:ext cx="2655570" cy="58356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或者通过快捷键：</a:t>
            </a:r>
            <a:r>
              <a:rPr lang="en-US" altLang="zh-CN" sz="16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win + r</a:t>
            </a:r>
            <a:endParaRPr lang="en-US" altLang="zh-CN" sz="1600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输入ncpa.cpl回车即可打开</a:t>
            </a:r>
            <a:endParaRPr lang="zh-CN" altLang="en-US" sz="1600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图片 6" descr="01 (14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4525" y="5097145"/>
            <a:ext cx="1560830" cy="15608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2186305"/>
            <a:ext cx="5092700" cy="3816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59350" y="1116330"/>
            <a:ext cx="6163310" cy="4511040"/>
          </a:xfrm>
        </p:spPr>
        <p:txBody>
          <a:bodyPr/>
          <a:p>
            <a:pPr marL="0" indent="0">
              <a:lnSpc>
                <a:spcPct val="190000"/>
              </a:lnSpc>
              <a:buNone/>
            </a:pPr>
            <a:r>
              <a:rPr lang="zh-CN" altLang="en-US">
                <a:sym typeface="+mn-ea"/>
              </a:rPr>
              <a:t>完成</a:t>
            </a:r>
            <a:r>
              <a:rPr lang="en-US" altLang="zh-CN">
                <a:sym typeface="+mn-ea"/>
              </a:rPr>
              <a:t>VMware</a:t>
            </a:r>
            <a:r>
              <a:rPr lang="zh-CN" altLang="en-US">
                <a:sym typeface="+mn-ea"/>
              </a:rPr>
              <a:t>虚拟机软件的安装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使用</a:t>
            </a:r>
            <a:r>
              <a:rPr lang="en-US" altLang="zh-CN">
                <a:solidFill>
                  <a:schemeClr val="tx1"/>
                </a:solidFill>
              </a:rPr>
              <a:t>VMware</a:t>
            </a:r>
            <a:r>
              <a:rPr lang="zh-CN" altLang="en-US">
                <a:solidFill>
                  <a:schemeClr val="tx1"/>
                </a:solidFill>
              </a:rPr>
              <a:t>虚拟机软件安装</a:t>
            </a:r>
            <a:r>
              <a:rPr lang="en-US" altLang="zh-CN">
                <a:solidFill>
                  <a:schemeClr val="tx1"/>
                </a:solidFill>
              </a:rPr>
              <a:t>Linux</a:t>
            </a:r>
            <a:r>
              <a:rPr lang="zh-CN" altLang="en-US">
                <a:solidFill>
                  <a:schemeClr val="tx1"/>
                </a:solidFill>
              </a:rPr>
              <a:t>虚拟机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下载</a:t>
            </a:r>
            <a:r>
              <a:rPr lang="en-US" altLang="zh-CN"/>
              <a:t>CentOS</a:t>
            </a:r>
            <a:r>
              <a:t>操作</a:t>
            </a:r>
            <a:r>
              <a:t>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首先，我们需要下载操作系统的安装文件，本次使用</a:t>
            </a:r>
            <a:r>
              <a:rPr lang="en-US" altLang="zh-CN"/>
              <a:t>CentOS7.6</a:t>
            </a:r>
            <a:r>
              <a:rPr lang="zh-CN" altLang="en-US"/>
              <a:t>版本进行</a:t>
            </a:r>
            <a:r>
              <a:rPr lang="zh-CN" altLang="en-US"/>
              <a:t>学习：</a:t>
            </a:r>
            <a:endParaRPr lang="zh-CN" altLang="en-US"/>
          </a:p>
          <a:p>
            <a:r>
              <a:rPr lang="zh-CN" altLang="en-US"/>
              <a:t>https://vault.centos.org/7.6.1810/isos/x86_64</a:t>
            </a:r>
            <a:r>
              <a:rPr lang="en-US" altLang="zh-CN"/>
              <a:t>/   (</a:t>
            </a:r>
            <a:r>
              <a:rPr lang="zh-CN" altLang="en-US"/>
              <a:t>最后的</a:t>
            </a:r>
            <a:r>
              <a:rPr lang="en-US" altLang="zh-CN"/>
              <a:t>/</a:t>
            </a:r>
            <a:r>
              <a:rPr lang="zh-CN" altLang="en-US"/>
              <a:t>不要</a:t>
            </a:r>
            <a:r>
              <a:rPr lang="zh-CN" altLang="en-US"/>
              <a:t>漏掉）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或者直接使用如下链接</a:t>
            </a:r>
            <a:r>
              <a:rPr lang="zh-CN" altLang="en-US"/>
              <a:t>下载：</a:t>
            </a:r>
            <a:endParaRPr lang="zh-CN" altLang="en-US"/>
          </a:p>
          <a:p>
            <a:r>
              <a:rPr lang="zh-CN" altLang="en-US"/>
              <a:t>https://vault.centos.org/7.6.1810/isos/x86_64/CentOS-7-x86_64-DVD-1810.iso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或者从课程资料中获取安装</a:t>
            </a:r>
            <a:r>
              <a:rPr lang="zh-CN" altLang="en-US"/>
              <a:t>包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2470785"/>
            <a:ext cx="7839075" cy="2038350"/>
          </a:xfrm>
          <a:prstGeom prst="rect">
            <a:avLst/>
          </a:prstGeom>
        </p:spPr>
      </p:pic>
      <p:pic>
        <p:nvPicPr>
          <p:cNvPr id="9" name="图片 8" descr="01 (4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5460" y="5158740"/>
            <a:ext cx="1536700" cy="153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在</a:t>
            </a:r>
            <a:r>
              <a:rPr lang="en-US" altLang="zh-CN"/>
              <a:t>VMware</a:t>
            </a:r>
            <a:r>
              <a:t>中安装</a:t>
            </a:r>
            <a:r>
              <a:rPr lang="en-US" altLang="zh-CN"/>
              <a:t>CentOS</a:t>
            </a:r>
            <a:r>
              <a:t>操作</a:t>
            </a:r>
            <a:r>
              <a:t>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打开</a:t>
            </a:r>
            <a:r>
              <a:rPr lang="en-US" altLang="zh-CN"/>
              <a:t>VMware</a:t>
            </a:r>
            <a:r>
              <a:rPr lang="zh-CN" altLang="en-US"/>
              <a:t>软件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610" y="2123440"/>
            <a:ext cx="6605905" cy="3997960"/>
          </a:xfrm>
          <a:prstGeom prst="rect">
            <a:avLst/>
          </a:prstGeom>
        </p:spPr>
      </p:pic>
      <p:pic>
        <p:nvPicPr>
          <p:cNvPr id="9" name="图片 8" descr="01 (4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5460" y="5158740"/>
            <a:ext cx="15367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在</a:t>
            </a:r>
            <a:r>
              <a:rPr lang="en-US" altLang="zh-CN"/>
              <a:t>VMware</a:t>
            </a:r>
            <a:r>
              <a:t>中安装</a:t>
            </a:r>
            <a:r>
              <a:rPr lang="en-US" altLang="zh-CN"/>
              <a:t>CentOS</a:t>
            </a:r>
            <a:r>
              <a:t>操作</a:t>
            </a:r>
            <a:r>
              <a:t>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按照步骤创建</a:t>
            </a:r>
            <a:r>
              <a:rPr lang="zh-CN" altLang="en-US"/>
              <a:t>虚拟机：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65" y="2195830"/>
            <a:ext cx="4676775" cy="40100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" y="2214880"/>
            <a:ext cx="4638675" cy="3990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" y="2195830"/>
            <a:ext cx="4667250" cy="4029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" y="2195830"/>
            <a:ext cx="4638675" cy="40005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865" y="2195830"/>
            <a:ext cx="4648200" cy="40005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" y="2205355"/>
            <a:ext cx="4629150" cy="4010025"/>
          </a:xfrm>
          <a:prstGeom prst="rect">
            <a:avLst/>
          </a:prstGeom>
        </p:spPr>
      </p:pic>
      <p:pic>
        <p:nvPicPr>
          <p:cNvPr id="5" name="图片 4" descr="01 (48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5460" y="5158740"/>
            <a:ext cx="1536700" cy="153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VMware</a:t>
            </a:r>
            <a:r>
              <a:rPr>
                <a:sym typeface="+mn-ea"/>
              </a:rPr>
              <a:t>中安装</a:t>
            </a:r>
            <a:r>
              <a:rPr lang="en-US" altLang="zh-CN">
                <a:sym typeface="+mn-ea"/>
              </a:rPr>
              <a:t>CentOS</a:t>
            </a:r>
            <a:r>
              <a:rPr>
                <a:sym typeface="+mn-ea"/>
              </a:rPr>
              <a:t>操作系统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点击完成后，即开启了</a:t>
            </a:r>
            <a:r>
              <a:rPr lang="en-US" altLang="zh-CN"/>
              <a:t>CentOS</a:t>
            </a:r>
            <a:r>
              <a:rPr lang="zh-CN" altLang="en-US"/>
              <a:t>系统的安装，耐心等待安装完成即可，后续都是自动化</a:t>
            </a:r>
            <a:r>
              <a:rPr lang="zh-CN" altLang="en-US"/>
              <a:t>的。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15" y="2432050"/>
            <a:ext cx="5843270" cy="35502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15" y="2432050"/>
            <a:ext cx="5843270" cy="3541395"/>
          </a:xfrm>
          <a:prstGeom prst="rect">
            <a:avLst/>
          </a:prstGeom>
        </p:spPr>
      </p:pic>
      <p:pic>
        <p:nvPicPr>
          <p:cNvPr id="9" name="图片 8" descr="01 (4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460" y="5158740"/>
            <a:ext cx="1536700" cy="153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VMware</a:t>
            </a:r>
            <a:r>
              <a:rPr>
                <a:sym typeface="+mn-ea"/>
              </a:rPr>
              <a:t>中安装</a:t>
            </a:r>
            <a:r>
              <a:rPr lang="en-US" altLang="zh-CN">
                <a:sym typeface="+mn-ea"/>
              </a:rPr>
              <a:t>CentOS</a:t>
            </a:r>
            <a:r>
              <a:rPr>
                <a:sym typeface="+mn-ea"/>
              </a:rPr>
              <a:t>操作系统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点击</a:t>
            </a:r>
            <a:r>
              <a:rPr lang="zh-CN" altLang="en-US"/>
              <a:t>用户名：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输入</a:t>
            </a:r>
            <a:r>
              <a:rPr lang="zh-CN" altLang="en-US"/>
              <a:t>密码：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218690"/>
            <a:ext cx="1924050" cy="1219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4280535"/>
            <a:ext cx="2715895" cy="2063115"/>
          </a:xfrm>
          <a:prstGeom prst="rect">
            <a:avLst/>
          </a:prstGeom>
        </p:spPr>
      </p:pic>
      <p:pic>
        <p:nvPicPr>
          <p:cNvPr id="9" name="图片 8" descr="01 (4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460" y="5158740"/>
            <a:ext cx="15367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VMware</a:t>
            </a:r>
            <a:r>
              <a:rPr>
                <a:sym typeface="+mn-ea"/>
              </a:rPr>
              <a:t>中安装</a:t>
            </a:r>
            <a:r>
              <a:rPr lang="en-US" altLang="zh-CN">
                <a:sym typeface="+mn-ea"/>
              </a:rPr>
              <a:t>CentOS</a:t>
            </a:r>
            <a:r>
              <a:rPr>
                <a:sym typeface="+mn-ea"/>
              </a:rPr>
              <a:t>操作系统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体验</a:t>
            </a:r>
            <a:r>
              <a:rPr lang="en-US" altLang="zh-CN"/>
              <a:t>Linux</a:t>
            </a:r>
            <a:r>
              <a:rPr lang="zh-CN" altLang="en-US"/>
              <a:t>的快乐</a:t>
            </a:r>
            <a:r>
              <a:rPr lang="zh-CN" altLang="en-US"/>
              <a:t>吧。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90" y="2075180"/>
            <a:ext cx="7430135" cy="4514215"/>
          </a:xfrm>
          <a:prstGeom prst="rect">
            <a:avLst/>
          </a:prstGeom>
        </p:spPr>
      </p:pic>
      <p:pic>
        <p:nvPicPr>
          <p:cNvPr id="7" name="图片 6" descr="01 (8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725" y="4657090"/>
            <a:ext cx="1985645" cy="198564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虚拟机网络设置</a:t>
            </a:r>
          </a:p>
        </p:txBody>
      </p:sp>
      <p:pic>
        <p:nvPicPr>
          <p:cNvPr id="9" name="图片 8" descr="01 (4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5460" y="5158740"/>
            <a:ext cx="1536700" cy="1536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" y="1663065"/>
            <a:ext cx="9324340" cy="456311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5065" y="1054735"/>
            <a:ext cx="6163310" cy="4511040"/>
          </a:xfrm>
        </p:spPr>
        <p:txBody>
          <a:bodyPr/>
          <a:p>
            <a:pPr marL="0" indent="0">
              <a:lnSpc>
                <a:spcPct val="190000"/>
              </a:lnSpc>
              <a:buNone/>
            </a:pPr>
            <a:r>
              <a:rPr lang="zh-CN" altLang="en-US">
                <a:sym typeface="+mn-ea"/>
              </a:rPr>
              <a:t>完成虚拟机的安装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计算机概述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操作系统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/>
              <a:t>VMware</a:t>
            </a:r>
            <a:r>
              <a:rPr lang="zh-CN" altLang="en-US" dirty="0">
                <a:solidFill>
                  <a:schemeClr val="tx1"/>
                </a:solidFill>
              </a:rPr>
              <a:t>虚拟机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Finallshell</a:t>
            </a:r>
            <a:r>
              <a:rPr lang="zh-CN" altLang="en-US" dirty="0">
                <a:solidFill>
                  <a:srgbClr val="C00000"/>
                </a:solidFill>
              </a:rPr>
              <a:t>客户端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常用基础命令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vi/vim</a:t>
            </a:r>
            <a:r>
              <a:rPr lang="zh-CN" altLang="en-US" dirty="0">
                <a:solidFill>
                  <a:schemeClr val="tx1"/>
                </a:solidFill>
              </a:rPr>
              <a:t>文本编辑器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掌握使用</a:t>
            </a:r>
            <a:r>
              <a:rPr lang="en-US" altLang="zh-CN">
                <a:solidFill>
                  <a:schemeClr val="tx1"/>
                </a:solidFill>
              </a:rPr>
              <a:t>FinalShell</a:t>
            </a:r>
            <a:r>
              <a:rPr lang="zh-CN" altLang="en-US">
                <a:solidFill>
                  <a:schemeClr val="tx1"/>
                </a:solidFill>
              </a:rPr>
              <a:t>软件连接虚拟机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FinalShell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既然决定使用命令行去学习</a:t>
            </a:r>
            <a:r>
              <a:rPr lang="en-US" altLang="zh-CN"/>
              <a:t>Linux</a:t>
            </a:r>
            <a:r>
              <a:rPr lang="zh-CN" altLang="en-US"/>
              <a:t>操作系统，那么就必须丰富一下工具的</a:t>
            </a:r>
            <a:r>
              <a:rPr lang="zh-CN" altLang="en-US"/>
              <a:t>使用。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我们使用</a:t>
            </a:r>
            <a:r>
              <a:rPr lang="en-US" altLang="zh-CN"/>
              <a:t>VMware</a:t>
            </a:r>
            <a:r>
              <a:rPr lang="zh-CN" altLang="en-US"/>
              <a:t>可以得到</a:t>
            </a:r>
            <a:r>
              <a:rPr lang="en-US" altLang="zh-CN"/>
              <a:t>Linux</a:t>
            </a:r>
            <a:r>
              <a:rPr lang="zh-CN" altLang="en-US"/>
              <a:t>虚拟机，但是在</a:t>
            </a:r>
            <a:r>
              <a:rPr lang="en-US" altLang="zh-CN"/>
              <a:t>VMware</a:t>
            </a:r>
            <a:r>
              <a:rPr lang="zh-CN" altLang="en-US"/>
              <a:t>中操作</a:t>
            </a:r>
            <a:r>
              <a:rPr lang="en-US" altLang="zh-CN"/>
              <a:t>Linux</a:t>
            </a:r>
            <a:r>
              <a:rPr lang="zh-CN" altLang="en-US"/>
              <a:t>的命令行页面不太方便，</a:t>
            </a:r>
            <a:r>
              <a:rPr lang="zh-CN" altLang="en-US"/>
              <a:t>主要是：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内容的复制、粘贴跨越</a:t>
            </a:r>
            <a:r>
              <a:rPr lang="en-US" altLang="zh-CN"/>
              <a:t>VMware</a:t>
            </a:r>
            <a:r>
              <a:rPr lang="zh-CN" altLang="en-US"/>
              <a:t>不方便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文件的上传、下载跨越</a:t>
            </a:r>
            <a:r>
              <a:rPr lang="en-US" altLang="zh-CN"/>
              <a:t>VMware</a:t>
            </a:r>
            <a:r>
              <a:rPr lang="zh-CN" altLang="en-US"/>
              <a:t>不</a:t>
            </a:r>
            <a:r>
              <a:rPr lang="zh-CN" altLang="en-US"/>
              <a:t>方便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也就是和</a:t>
            </a:r>
            <a:r>
              <a:rPr lang="en-US" altLang="zh-CN"/>
              <a:t>Linux</a:t>
            </a:r>
            <a:r>
              <a:rPr lang="zh-CN" altLang="en-US"/>
              <a:t>系统的</a:t>
            </a:r>
            <a:r>
              <a:rPr lang="zh-CN" altLang="en-US"/>
              <a:t>各类交互，跨越</a:t>
            </a:r>
            <a:r>
              <a:rPr lang="en-US" altLang="zh-CN"/>
              <a:t>VMware</a:t>
            </a:r>
            <a:r>
              <a:rPr lang="zh-CN" altLang="en-US"/>
              <a:t>不</a:t>
            </a:r>
            <a:r>
              <a:rPr lang="zh-CN" altLang="en-US"/>
              <a:t>方便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我们可以通过第三方软件，</a:t>
            </a:r>
            <a:r>
              <a:rPr lang="en-US" altLang="zh-CN"/>
              <a:t>FinalShell</a:t>
            </a:r>
            <a:r>
              <a:rPr lang="zh-CN" altLang="en-US"/>
              <a:t>，远程连接到</a:t>
            </a:r>
            <a:r>
              <a:rPr lang="en-US" altLang="zh-CN"/>
              <a:t>Linux</a:t>
            </a:r>
            <a:r>
              <a:rPr lang="zh-CN" altLang="en-US"/>
              <a:t>操作系统</a:t>
            </a:r>
            <a:r>
              <a:rPr lang="zh-CN" altLang="en-US"/>
              <a:t>之上。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并通过</a:t>
            </a:r>
            <a:r>
              <a:rPr lang="en-US" altLang="zh-CN"/>
              <a:t>FinalShell</a:t>
            </a:r>
            <a:r>
              <a:rPr lang="zh-CN" altLang="en-US"/>
              <a:t>去操作</a:t>
            </a:r>
            <a:r>
              <a:rPr lang="en-US" altLang="zh-CN"/>
              <a:t>Linux</a:t>
            </a:r>
            <a:r>
              <a:rPr lang="zh-CN" altLang="en-US"/>
              <a:t>系统。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这样各类操作都会十分的</a:t>
            </a:r>
            <a:r>
              <a:rPr lang="zh-CN" altLang="en-US"/>
              <a:t>方便。</a:t>
            </a:r>
            <a:endParaRPr lang="zh-CN" altLang="en-US"/>
          </a:p>
        </p:txBody>
      </p:sp>
      <p:pic>
        <p:nvPicPr>
          <p:cNvPr id="4" name="图片 3" descr="01 (4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960" y="4890770"/>
            <a:ext cx="1811655" cy="181165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FinalShell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FinalShell</a:t>
            </a:r>
            <a:r>
              <a:rPr lang="zh-CN" altLang="en-US"/>
              <a:t>的下载地址</a:t>
            </a:r>
            <a:r>
              <a:rPr lang="zh-CN" altLang="en-US"/>
              <a:t>为：</a:t>
            </a:r>
            <a:endParaRPr lang="zh-CN" altLang="en-US"/>
          </a:p>
          <a:p>
            <a:r>
              <a:rPr lang="en-US" altLang="zh-CN"/>
              <a:t>Windows: </a:t>
            </a:r>
            <a:endParaRPr lang="en-US" altLang="zh-CN"/>
          </a:p>
          <a:p>
            <a:r>
              <a:rPr lang="zh-CN" altLang="en-US"/>
              <a:t>http://www.hostbuf.com/downloads/finalshell_install.exe</a:t>
            </a:r>
            <a:endParaRPr lang="zh-CN" altLang="en-US"/>
          </a:p>
          <a:p>
            <a:r>
              <a:rPr lang="en-US" altLang="zh-CN"/>
              <a:t>Mac: </a:t>
            </a:r>
            <a:endParaRPr lang="en-US" altLang="zh-CN"/>
          </a:p>
          <a:p>
            <a:r>
              <a:rPr lang="en-US" altLang="zh-CN"/>
              <a:t>http://www.hostbuf.com/downloads/finalshell_install.pkg</a:t>
            </a:r>
            <a:endParaRPr lang="en-US" altLang="zh-CN"/>
          </a:p>
          <a:p>
            <a:r>
              <a:rPr lang="zh-CN" altLang="en-US"/>
              <a:t>下载完成后双击</a:t>
            </a:r>
            <a:r>
              <a:rPr lang="zh-CN" altLang="en-US">
                <a:sym typeface="+mn-ea"/>
              </a:rPr>
              <a:t>打开</a:t>
            </a:r>
            <a:r>
              <a:rPr lang="zh-CN" altLang="en-US"/>
              <a:t>安装。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01 (4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6575" y="4823460"/>
            <a:ext cx="1871345" cy="187134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Windows</a:t>
            </a:r>
            <a:r>
              <a:t>系统安装</a:t>
            </a:r>
            <a:r>
              <a:rPr lang="en-US" altLang="zh-CN"/>
              <a:t>FinalShell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按照提示一直下一步即可安装</a:t>
            </a:r>
            <a:r>
              <a:rPr lang="zh-CN" altLang="en-US"/>
              <a:t>完成。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274570"/>
            <a:ext cx="4752975" cy="3429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274570"/>
            <a:ext cx="4752975" cy="3429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2284095"/>
            <a:ext cx="4752975" cy="3429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5" y="2284095"/>
            <a:ext cx="4752975" cy="34385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65" y="2536825"/>
            <a:ext cx="4362450" cy="2933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65" y="2274570"/>
            <a:ext cx="4752975" cy="3695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565" y="2274570"/>
            <a:ext cx="4752975" cy="36957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565" y="2274570"/>
            <a:ext cx="4752975" cy="36957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565" y="2284095"/>
            <a:ext cx="4752975" cy="3429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565" y="2274570"/>
            <a:ext cx="4752975" cy="3429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565" y="2278380"/>
            <a:ext cx="5097780" cy="3425190"/>
          </a:xfrm>
          <a:prstGeom prst="rect">
            <a:avLst/>
          </a:prstGeom>
        </p:spPr>
      </p:pic>
      <p:pic>
        <p:nvPicPr>
          <p:cNvPr id="15" name="图片 14" descr="01 (46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39780" y="5158105"/>
            <a:ext cx="1536700" cy="153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Mac</a:t>
            </a:r>
            <a:r>
              <a:t>系统安装</a:t>
            </a:r>
            <a:r>
              <a:rPr lang="en-US" altLang="zh-CN"/>
              <a:t>FinalShell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打开下载的</a:t>
            </a:r>
            <a:r>
              <a:rPr lang="en-US" altLang="zh-CN"/>
              <a:t>pkg</a:t>
            </a:r>
            <a:r>
              <a:rPr lang="zh-CN" altLang="en-US"/>
              <a:t>文件，按照提示下一步即可安装</a:t>
            </a:r>
            <a:r>
              <a:rPr lang="zh-CN" altLang="en-US"/>
              <a:t>成功。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148840"/>
            <a:ext cx="5905500" cy="4229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148840"/>
            <a:ext cx="5905500" cy="4229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245" y="2954020"/>
            <a:ext cx="2390775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2149475"/>
            <a:ext cx="5905500" cy="4229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149475"/>
            <a:ext cx="5905500" cy="4229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5700" y="3148965"/>
            <a:ext cx="2476500" cy="22288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2148840"/>
            <a:ext cx="6793230" cy="4224655"/>
          </a:xfrm>
          <a:prstGeom prst="rect">
            <a:avLst/>
          </a:prstGeom>
        </p:spPr>
      </p:pic>
      <p:pic>
        <p:nvPicPr>
          <p:cNvPr id="13" name="图片 12" descr="01 (47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8465" y="4695825"/>
            <a:ext cx="2019935" cy="2019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连接到</a:t>
            </a:r>
            <a:r>
              <a:rPr lang="en-US" altLang="zh-CN">
                <a:sym typeface="+mn-ea"/>
              </a:rPr>
              <a:t>Linux</a:t>
            </a:r>
            <a:r>
              <a:rPr>
                <a:sym typeface="+mn-ea"/>
              </a:rPr>
              <a:t>系统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首先，先查询到</a:t>
            </a:r>
            <a:r>
              <a:rPr lang="en-US" altLang="zh-CN"/>
              <a:t>Linux</a:t>
            </a:r>
            <a:r>
              <a:rPr lang="zh-CN" altLang="en-US"/>
              <a:t>系统的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940" y="2193925"/>
            <a:ext cx="5646420" cy="42278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" y="2193925"/>
            <a:ext cx="5647055" cy="42284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40" y="2193925"/>
            <a:ext cx="5647055" cy="42284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" y="2193925"/>
            <a:ext cx="5647690" cy="4229100"/>
          </a:xfrm>
          <a:prstGeom prst="rect">
            <a:avLst/>
          </a:prstGeom>
        </p:spPr>
      </p:pic>
      <p:pic>
        <p:nvPicPr>
          <p:cNvPr id="9" name="图片 8" descr="01 (48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5460" y="5158740"/>
            <a:ext cx="1536700" cy="153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连接到</a:t>
            </a:r>
            <a:r>
              <a:rPr lang="en-US" altLang="zh-CN"/>
              <a:t>Linux</a:t>
            </a:r>
            <a:r>
              <a:t>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打开</a:t>
            </a:r>
            <a:r>
              <a:rPr lang="en-US" altLang="zh-CN"/>
              <a:t>Finshell</a:t>
            </a:r>
            <a:r>
              <a:rPr lang="zh-CN" altLang="en-US"/>
              <a:t>软件，配置到</a:t>
            </a:r>
            <a:r>
              <a:rPr lang="en-US" altLang="zh-CN"/>
              <a:t>Linux</a:t>
            </a:r>
            <a:r>
              <a:rPr lang="zh-CN" altLang="en-US"/>
              <a:t>系统的连接（</a:t>
            </a:r>
            <a:r>
              <a:rPr lang="en-US" altLang="zh-CN"/>
              <a:t>Mac</a:t>
            </a:r>
            <a:r>
              <a:rPr lang="zh-CN" altLang="en-US"/>
              <a:t>和</a:t>
            </a:r>
            <a:r>
              <a:rPr lang="en-US" altLang="zh-CN"/>
              <a:t>Windows</a:t>
            </a:r>
            <a:r>
              <a:rPr lang="zh-CN" altLang="en-US"/>
              <a:t>系统的操作一致，不再分开</a:t>
            </a:r>
            <a:r>
              <a:rPr lang="zh-CN" altLang="en-US"/>
              <a:t>赘述）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70" y="2379980"/>
            <a:ext cx="7658100" cy="1038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70" y="3729355"/>
            <a:ext cx="6353175" cy="2695575"/>
          </a:xfrm>
          <a:prstGeom prst="rect">
            <a:avLst/>
          </a:prstGeom>
        </p:spPr>
      </p:pic>
      <p:pic>
        <p:nvPicPr>
          <p:cNvPr id="6" name="图片 5" descr="01 (4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3220" y="4864100"/>
            <a:ext cx="1861185" cy="186118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连接到</a:t>
            </a:r>
            <a:r>
              <a:rPr lang="en-US" altLang="zh-CN">
                <a:sym typeface="+mn-ea"/>
              </a:rPr>
              <a:t>Linux</a:t>
            </a:r>
            <a:r>
              <a:rPr>
                <a:sym typeface="+mn-ea"/>
              </a:rPr>
              <a:t>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按图示配置连接，并点击</a:t>
            </a:r>
            <a:r>
              <a:rPr lang="zh-CN" altLang="en-US"/>
              <a:t>确定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115185"/>
            <a:ext cx="4495800" cy="3990975"/>
          </a:xfrm>
          <a:prstGeom prst="rect">
            <a:avLst/>
          </a:prstGeom>
        </p:spPr>
      </p:pic>
      <p:pic>
        <p:nvPicPr>
          <p:cNvPr id="5" name="图片 4" descr="01 (5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740" y="4894580"/>
            <a:ext cx="1750060" cy="17500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连接到</a:t>
            </a:r>
            <a:r>
              <a:rPr lang="en-US" altLang="zh-CN">
                <a:sym typeface="+mn-ea"/>
              </a:rPr>
              <a:t>Linux</a:t>
            </a:r>
            <a:r>
              <a:rPr>
                <a:sym typeface="+mn-ea"/>
              </a:rPr>
              <a:t>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打开连接管理器</a:t>
            </a:r>
            <a:br>
              <a:rPr lang="zh-CN" altLang="en-US"/>
            </a:b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双击刚刚配置好的</a:t>
            </a:r>
            <a:r>
              <a:rPr lang="zh-CN" altLang="en-US"/>
              <a:t>连接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3729355"/>
            <a:ext cx="6353175" cy="2695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b="4893"/>
          <a:stretch>
            <a:fillRect/>
          </a:stretch>
        </p:blipFill>
        <p:spPr>
          <a:xfrm>
            <a:off x="802005" y="2176780"/>
            <a:ext cx="7658100" cy="987425"/>
          </a:xfrm>
          <a:prstGeom prst="rect">
            <a:avLst/>
          </a:prstGeom>
        </p:spPr>
      </p:pic>
      <p:pic>
        <p:nvPicPr>
          <p:cNvPr id="6" name="图片 5" descr="01 (5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530" y="4874895"/>
            <a:ext cx="1748790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连接到</a:t>
            </a:r>
            <a:r>
              <a:rPr lang="en-US" altLang="zh-CN">
                <a:sym typeface="+mn-ea"/>
              </a:rPr>
              <a:t>Linux</a:t>
            </a:r>
            <a:r>
              <a:rPr>
                <a:sym typeface="+mn-ea"/>
              </a:rPr>
              <a:t>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点击接受并</a:t>
            </a:r>
            <a:r>
              <a:rPr lang="zh-CN" altLang="en-US"/>
              <a:t>保存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146300"/>
            <a:ext cx="3571875" cy="1933575"/>
          </a:xfrm>
          <a:prstGeom prst="rect">
            <a:avLst/>
          </a:prstGeom>
        </p:spPr>
      </p:pic>
      <p:pic>
        <p:nvPicPr>
          <p:cNvPr id="6" name="图片 5" descr="01 (5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4205" y="4951730"/>
            <a:ext cx="1682115" cy="168211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连接到</a:t>
            </a:r>
            <a:r>
              <a:rPr lang="en-US" altLang="zh-CN">
                <a:sym typeface="+mn-ea"/>
              </a:rPr>
              <a:t>Linux</a:t>
            </a:r>
            <a:r>
              <a:rPr>
                <a:sym typeface="+mn-ea"/>
              </a:rPr>
              <a:t>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如图连接成功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90" y="2248535"/>
            <a:ext cx="5521325" cy="34334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25285" y="3677285"/>
            <a:ext cx="4690110" cy="132207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注意：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Linux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虚拟机如果重启，有可能，发生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改变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如果改变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需要在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FinalShell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中修改连接的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地址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后面课程我们会讲解如何固定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地址不发生改变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7" name="图片 6" descr="01 (5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105" y="4989195"/>
            <a:ext cx="1953895" cy="195389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252855"/>
            <a:ext cx="6163310" cy="4511040"/>
          </a:xfrm>
        </p:spPr>
        <p:txBody>
          <a:bodyPr/>
          <a:p>
            <a:pPr marL="0" indent="0">
              <a:lnSpc>
                <a:spcPct val="190000"/>
              </a:lnSpc>
              <a:buNone/>
            </a:pPr>
            <a:r>
              <a:rPr lang="zh-CN" altLang="en-US">
                <a:sym typeface="+mn-ea"/>
              </a:rPr>
              <a:t>完成</a:t>
            </a:r>
            <a:r>
              <a:rPr lang="en-US" altLang="zh-CN">
                <a:sym typeface="+mn-ea"/>
              </a:rPr>
              <a:t>FinalShell</a:t>
            </a:r>
            <a:r>
              <a:rPr lang="zh-CN" altLang="en-US">
                <a:sym typeface="+mn-ea"/>
              </a:rPr>
              <a:t>远程连接虚拟机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计算机概述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操作系统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/>
              <a:t>VMware</a:t>
            </a:r>
            <a:r>
              <a:rPr lang="zh-CN" altLang="en-US" dirty="0">
                <a:solidFill>
                  <a:schemeClr val="tx1"/>
                </a:solidFill>
              </a:rPr>
              <a:t>虚拟机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Finallshell</a:t>
            </a:r>
            <a:r>
              <a:rPr lang="zh-CN" altLang="en-US" dirty="0">
                <a:solidFill>
                  <a:schemeClr val="tx1"/>
                </a:solidFill>
              </a:rPr>
              <a:t>客户端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Linux</a:t>
            </a:r>
            <a:r>
              <a:rPr lang="zh-CN" altLang="en-US" dirty="0">
                <a:solidFill>
                  <a:srgbClr val="C00000"/>
                </a:solidFill>
              </a:rPr>
              <a:t>常用基础命令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vi/vim</a:t>
            </a:r>
            <a:r>
              <a:rPr lang="zh-CN" altLang="en-US" dirty="0">
                <a:solidFill>
                  <a:schemeClr val="tx1"/>
                </a:solidFill>
              </a:rPr>
              <a:t>文本编辑器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pPr marL="0" indent="0">
              <a:buNone/>
            </a:pPr>
            <a:r>
              <a:rPr lang="zh-CN">
                <a:solidFill>
                  <a:schemeClr val="tx1"/>
                </a:solidFill>
              </a:rPr>
              <a:t>了解</a:t>
            </a:r>
            <a:r>
              <a:rPr lang="en-US" altLang="zh-CN">
                <a:solidFill>
                  <a:schemeClr val="tx1"/>
                </a:solidFill>
              </a:rPr>
              <a:t>Linux</a:t>
            </a:r>
            <a:r>
              <a:rPr lang="zh-CN" altLang="en-US">
                <a:solidFill>
                  <a:schemeClr val="tx1"/>
                </a:solidFill>
              </a:rPr>
              <a:t>目录结构和命令格式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掌握四大基础命令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的目录</a:t>
            </a:r>
            <a:r>
              <a:t>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Linux的目录结构是一个树型结构</a:t>
            </a:r>
            <a:endParaRPr lang="zh-CN" altLang="en-US"/>
          </a:p>
          <a:p>
            <a:r>
              <a:rPr lang="zh-CN" altLang="en-US"/>
              <a:t>Windows 系统可以拥有多个盘符, 如 C盘、D盘、E盘</a:t>
            </a:r>
            <a:endParaRPr lang="zh-CN" altLang="en-US"/>
          </a:p>
          <a:p>
            <a:r>
              <a:rPr lang="zh-CN" altLang="en-US"/>
              <a:t>Linux没有盘符这个概念, 只有一个根目录 /, 所有文件都在它下面</a:t>
            </a:r>
            <a:endParaRPr lang="zh-CN" altLang="en-US"/>
          </a:p>
        </p:txBody>
      </p:sp>
      <p:pic>
        <p:nvPicPr>
          <p:cNvPr id="10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4075" y="2946400"/>
            <a:ext cx="4382770" cy="1639570"/>
          </a:xfrm>
          <a:prstGeom prst="rect">
            <a:avLst/>
          </a:prstGeom>
          <a:noFill/>
          <a:ln>
            <a:solidFill>
              <a:srgbClr val="91919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45" y="3145790"/>
            <a:ext cx="2861945" cy="1422400"/>
          </a:xfrm>
          <a:prstGeom prst="rect">
            <a:avLst/>
          </a:prstGeom>
          <a:ln>
            <a:solidFill>
              <a:srgbClr val="91919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125" y="3145790"/>
            <a:ext cx="2765425" cy="1423035"/>
          </a:xfrm>
          <a:prstGeom prst="rect">
            <a:avLst/>
          </a:prstGeom>
          <a:ln>
            <a:solidFill>
              <a:srgbClr val="919191"/>
            </a:solidFill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路径的描述</a:t>
            </a:r>
            <a:r>
              <a:t>方式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Linux</a:t>
            </a:r>
            <a:r>
              <a:rPr lang="zh-CN" altLang="en-US"/>
              <a:t>系统中，路径之间的层级关系，使用：</a:t>
            </a:r>
            <a:r>
              <a:rPr lang="en-US" altLang="zh-CN"/>
              <a:t>/ </a:t>
            </a:r>
            <a:r>
              <a:rPr lang="zh-CN" altLang="en-US"/>
              <a:t>来</a:t>
            </a:r>
            <a:r>
              <a:rPr lang="zh-CN" altLang="en-US"/>
              <a:t>表示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Windows</a:t>
            </a:r>
            <a:r>
              <a:rPr lang="zh-CN" altLang="en-US"/>
              <a:t>系统中，路径之间的层级关系，使用：</a:t>
            </a:r>
            <a:r>
              <a:rPr lang="en-US" altLang="zh-CN"/>
              <a:t> \ </a:t>
            </a:r>
            <a:r>
              <a:rPr lang="zh-CN" altLang="en-US"/>
              <a:t>来</a:t>
            </a:r>
            <a:r>
              <a:rPr lang="zh-CN" altLang="en-US"/>
              <a:t>表示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35" y="2612390"/>
            <a:ext cx="3509010" cy="23393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340" y="2547620"/>
            <a:ext cx="4718050" cy="24688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86230" y="5131435"/>
            <a:ext cx="1988185" cy="30670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rgbClr val="FF0000"/>
                </a:solidFill>
                <a:latin typeface="纤黑体" panose="02000000000000000000" charset="-122"/>
                <a:ea typeface="+mn-ea"/>
                <a:cs typeface="纤黑体" panose="02000000000000000000" charset="-122"/>
              </a:rPr>
              <a:t>D:\data\work\hello.txt</a:t>
            </a:r>
            <a:endParaRPr lang="en-US" altLang="zh-CN" sz="1400" b="1" dirty="0">
              <a:solidFill>
                <a:srgbClr val="FF0000"/>
              </a:solidFill>
              <a:latin typeface="纤黑体" panose="02000000000000000000" charset="-122"/>
              <a:ea typeface="+mn-ea"/>
              <a:cs typeface="纤黑体" panose="020000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90815" y="5131435"/>
            <a:ext cx="1688465" cy="30670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rgbClr val="FF0000"/>
                </a:solidFill>
                <a:latin typeface="纤黑体" panose="02000000000000000000" charset="-122"/>
                <a:ea typeface="+mn-ea"/>
                <a:cs typeface="纤黑体" panose="02000000000000000000" charset="-122"/>
              </a:rPr>
              <a:t>/usr/local/hello.txt</a:t>
            </a:r>
            <a:endParaRPr lang="en-US" altLang="zh-CN" sz="1400" b="1" dirty="0">
              <a:solidFill>
                <a:srgbClr val="FF0000"/>
              </a:solidFill>
              <a:latin typeface="纤黑体" panose="02000000000000000000" charset="-122"/>
              <a:ea typeface="+mn-ea"/>
              <a:cs typeface="纤黑体" panose="020000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35900" y="5553075"/>
            <a:ext cx="2043430" cy="73723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注意：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开头的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/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表示根目录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后面的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/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表示层级关系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86230" y="5617845"/>
            <a:ext cx="1510665" cy="73723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注意：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D: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表示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D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盘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\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表示层级关系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8" grpId="1"/>
      <p:bldP spid="11" grpId="1"/>
      <p:bldP spid="9" grpId="0"/>
      <p:bldP spid="10" grpId="0"/>
      <p:bldP spid="9" grpId="1"/>
      <p:bldP spid="10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5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5785" y="908685"/>
          <a:ext cx="10474325" cy="5558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7753985"/>
              </a:tblGrid>
              <a:tr h="244475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alt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目录</a:t>
                      </a:r>
                      <a:endParaRPr lang="zh-CN" altLang="en-US" sz="1600" b="0" kern="1200" dirty="0">
                        <a:solidFill>
                          <a:schemeClr val="bg1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alt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作用</a:t>
                      </a:r>
                      <a:endParaRPr lang="zh-CN" altLang="en-US" sz="1600" b="0" kern="1200" dirty="0">
                        <a:solidFill>
                          <a:schemeClr val="bg1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/bin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Binaries (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二进制文件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)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的缩写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,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这个目录存放着最经常使用的命令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/boot </a:t>
                      </a:r>
                      <a:endParaRPr lang="zh-CN" altLang="en-US" sz="1600" b="0" kern="120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系统引导程序所需要的文件目录，存放的是启动 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Linux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时使用的一些核心文件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/dev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Device(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设备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)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的缩写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,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该目录下存放的是 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Linux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的外部设备，磁盘，光驱 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27686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</a:t>
                      </a:r>
                      <a:r>
                        <a:rPr lang="en-US" sz="1600" b="0" kern="1200" dirty="0" err="1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etc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用来存放所有的系统管理所需要的配置文件和子目录，系统配置，启动程序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/home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用户的主目录，在 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Linux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中，每个用户都有一个自己的目录，一般该目录名是以用户的账号命名的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rgbClr val="FFFF0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/lib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Library(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库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)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的缩写这个目录里存放着系统最基本的动态连接共享库，其作用类似于 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Windows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里的 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DLL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文件。几乎所有的应用程序都需要用到这些共享库。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48768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</a:t>
                      </a:r>
                      <a:r>
                        <a:rPr lang="en-US" sz="1600" b="0" kern="1200" dirty="0" err="1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mnt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临时挂载储存设备的挂载点，我们可以将光驱挂载在 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</a:t>
                      </a:r>
                      <a:r>
                        <a:rPr lang="en-US" altLang="zh-CN" sz="1600" b="0" kern="1200" dirty="0" err="1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mnt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上，然后进入该目录就可以查看光驱里的内容了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48768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/opt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optional(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可选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)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的缩写，这是给主机额外安装软件所摆放的目录。比如你安装一个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MySQL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数据库则就可以放到这个目录下。默认是空的。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48768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/proc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存储的是当前内核运行状态的一系列特殊文件。操作系统运行时，进程信息和内核信息存放在这里。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/root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Linux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超级权限用户</a:t>
                      </a: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root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的家目录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rgbClr val="FFFF00"/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</a:t>
                      </a:r>
                      <a:r>
                        <a:rPr lang="en-US" sz="1600" b="0" kern="1200" dirty="0" err="1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sbin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管理系统相关的命令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【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超级管理员用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】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</a:t>
                      </a:r>
                      <a:r>
                        <a:rPr lang="en-US" sz="1600" b="0" kern="1200" dirty="0" err="1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tmp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临时文件目录，这个目录被当作回收站使用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/usr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1219200" rtl="0" eaLnBrk="1" latinLnBrk="0" hangingPunct="1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用户或系统软件应用程序目录，类似于 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windows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下的 </a:t>
                      </a:r>
                      <a:r>
                        <a:rPr lang="en-US" altLang="zh-CN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program files </a:t>
                      </a:r>
                      <a:r>
                        <a:rPr lang="zh-CN" altLang="en-US" sz="1600" b="0" kern="1200" dirty="0">
                          <a:solidFill>
                            <a:srgbClr val="262626"/>
                          </a:solidFill>
                          <a:latin typeface="+mn-lt"/>
                          <a:ea typeface="Alibaba PuHuiTi R" pitchFamily="18" charset="-122"/>
                          <a:cs typeface="+mn-cs"/>
                        </a:rPr>
                        <a:t>目录。</a:t>
                      </a:r>
                      <a:endParaRPr lang="zh-CN" altLang="en-US" sz="1600" b="0" kern="1200" dirty="0">
                        <a:solidFill>
                          <a:srgbClr val="262626"/>
                        </a:solidFill>
                        <a:latin typeface="+mn-lt"/>
                        <a:ea typeface="Alibaba PuHuiTi R" pitchFamily="18" charset="-122"/>
                        <a:cs typeface="+mn-c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命令基础格式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/>
              <a:t>无论是什么命令，用于什么用途，在</a:t>
            </a:r>
            <a:r>
              <a:rPr lang="en-US" altLang="zh-CN"/>
              <a:t>Linux</a:t>
            </a:r>
            <a:r>
              <a:rPr lang="zh-CN" altLang="en-US"/>
              <a:t>中，命令有其通用的格式：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command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命令本身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-options</a:t>
            </a:r>
            <a:r>
              <a:rPr lang="zh-CN" altLang="en-US"/>
              <a:t>：</a:t>
            </a:r>
            <a:r>
              <a:rPr lang="en-US" altLang="zh-CN"/>
              <a:t>[</a:t>
            </a:r>
            <a:r>
              <a:rPr lang="zh-CN" altLang="en-US"/>
              <a:t>可选，非必填</a:t>
            </a:r>
            <a:r>
              <a:rPr lang="en-US" altLang="zh-CN"/>
              <a:t>]</a:t>
            </a:r>
            <a:r>
              <a:rPr lang="zh-CN" altLang="en-US"/>
              <a:t>命令的一些选项，可以通过选项控制命令的行为细节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parameter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[</a:t>
            </a:r>
            <a:r>
              <a:rPr lang="zh-CN" altLang="en-US">
                <a:sym typeface="+mn-ea"/>
              </a:rPr>
              <a:t>可选，非必填</a:t>
            </a:r>
            <a:r>
              <a:rPr lang="en-US" altLang="zh-CN">
                <a:sym typeface="+mn-ea"/>
              </a:rPr>
              <a:t>]</a:t>
            </a:r>
            <a:r>
              <a:rPr lang="zh-CN" altLang="en-US"/>
              <a:t>命令的参数，多数用于命令的指向目标等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 sz="1600"/>
          </a:p>
          <a:p>
            <a:pPr>
              <a:buFont typeface="Arial" panose="020B0604020202020204" pitchFamily="34" charset="0"/>
            </a:pPr>
            <a:r>
              <a:rPr lang="zh-CN" altLang="en-US" sz="1600"/>
              <a:t>注意</a:t>
            </a:r>
            <a:r>
              <a:rPr lang="en-US" altLang="zh-CN" sz="1600"/>
              <a:t>:语法中的[]，表示可选的意思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2166620"/>
            <a:ext cx="3028950" cy="352425"/>
          </a:xfrm>
          <a:prstGeom prst="rect">
            <a:avLst/>
          </a:prstGeom>
        </p:spPr>
      </p:pic>
      <p:pic>
        <p:nvPicPr>
          <p:cNvPr id="5" name="图片 4" descr="01 (4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215" y="5052695"/>
            <a:ext cx="1651000" cy="1651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常用基础命令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indent="457200"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5" name="图片 4" descr="01 (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4215" y="5052695"/>
            <a:ext cx="1651000" cy="1651000"/>
          </a:xfrm>
          <a:prstGeom prst="rect">
            <a:avLst/>
          </a:prstGeom>
        </p:spPr>
      </p:pic>
      <p:sp>
        <p:nvSpPr>
          <p:cNvPr id="6" name="文本占位符 2"/>
          <p:cNvSpPr>
            <a:spLocks noGrp="1"/>
          </p:cNvSpPr>
          <p:nvPr/>
        </p:nvSpPr>
        <p:spPr>
          <a:xfrm>
            <a:off x="788350" y="1603930"/>
            <a:ext cx="1069880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四大基础命令</a:t>
            </a:r>
            <a:r>
              <a:rPr lang="en-US" altLang="zh-CN"/>
              <a:t>:</a:t>
            </a:r>
            <a:endParaRPr lang="en-US" altLang="zh-CN"/>
          </a:p>
          <a:p>
            <a:pPr indent="457200"/>
            <a:r>
              <a:rPr lang="en-US" altLang="zh-CN">
                <a:sym typeface="+mn-ea"/>
              </a:rPr>
              <a:t>clear: </a:t>
            </a:r>
            <a:r>
              <a:rPr lang="zh-CN" altLang="en-US">
                <a:sym typeface="+mn-ea"/>
              </a:rPr>
              <a:t>清屏</a:t>
            </a:r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快捷键</a:t>
            </a:r>
            <a:r>
              <a:rPr lang="en-US" altLang="zh-CN">
                <a:sym typeface="+mn-ea"/>
              </a:rPr>
              <a:t>:ctrl+L</a:t>
            </a:r>
            <a:endParaRPr lang="zh-CN" altLang="en-US"/>
          </a:p>
          <a:p>
            <a:pPr indent="457200"/>
            <a:r>
              <a:rPr lang="en-US" altLang="zh-CN"/>
              <a:t>ls : </a:t>
            </a:r>
            <a:r>
              <a:rPr lang="zh-CN" altLang="en-US"/>
              <a:t>展示当前目录下所有文件</a:t>
            </a:r>
            <a:endParaRPr lang="zh-CN" altLang="en-US"/>
          </a:p>
          <a:p>
            <a:pPr indent="457200"/>
            <a:r>
              <a:rPr lang="en-US" altLang="zh-CN"/>
              <a:t>cd : </a:t>
            </a:r>
            <a:r>
              <a:rPr lang="zh-CN" altLang="en-US"/>
              <a:t>切换目录位置</a:t>
            </a:r>
            <a:endParaRPr lang="zh-CN" altLang="en-US"/>
          </a:p>
          <a:p>
            <a:pPr indent="457200"/>
            <a:r>
              <a:rPr lang="en-US" altLang="zh-CN">
                <a:sym typeface="+mn-ea"/>
              </a:rPr>
              <a:t>pwd: </a:t>
            </a:r>
            <a:r>
              <a:rPr lang="zh-CN" altLang="en-US">
                <a:sym typeface="+mn-ea"/>
              </a:rPr>
              <a:t>打印当前所在位置的绝对路径</a:t>
            </a:r>
            <a:endParaRPr lang="zh-CN" altLang="en-US">
              <a:sym typeface="+mn-ea"/>
            </a:endParaRPr>
          </a:p>
          <a:p>
            <a:pPr indent="457200"/>
            <a:endParaRPr lang="en-US" altLang="zh-CN"/>
          </a:p>
          <a:p>
            <a:r>
              <a:rPr lang="zh-CN" altLang="en-US"/>
              <a:t>家目录</a:t>
            </a:r>
            <a:r>
              <a:rPr lang="en-US" altLang="zh-CN"/>
              <a:t>:	</a:t>
            </a:r>
            <a:endParaRPr lang="en-US" altLang="zh-CN"/>
          </a:p>
          <a:p>
            <a:pPr indent="457200"/>
            <a:r>
              <a:rPr lang="en-US" altLang="zh-CN"/>
              <a:t>~ : </a:t>
            </a:r>
            <a:r>
              <a:rPr lang="zh-CN" altLang="en-US"/>
              <a:t>普通用户的家目录是</a:t>
            </a:r>
            <a:r>
              <a:rPr lang="en-US" altLang="zh-CN"/>
              <a:t>:/home/</a:t>
            </a:r>
            <a:r>
              <a:rPr lang="zh-CN" altLang="en-US"/>
              <a:t>普通用户名</a:t>
            </a:r>
            <a:r>
              <a:rPr lang="en-US" altLang="zh-CN"/>
              <a:t>   root</a:t>
            </a:r>
            <a:r>
              <a:rPr lang="zh-CN" altLang="en-US"/>
              <a:t>用户的家目录是</a:t>
            </a:r>
            <a:r>
              <a:rPr lang="en-US" altLang="zh-CN"/>
              <a:t>: /root</a:t>
            </a:r>
            <a:endParaRPr lang="en-US" altLang="zh-CN"/>
          </a:p>
          <a:p>
            <a:pPr indent="457200"/>
            <a:r>
              <a:rPr lang="zh-CN" altLang="en-US"/>
              <a:t>快速回家</a:t>
            </a:r>
            <a:r>
              <a:rPr lang="en-US" altLang="zh-CN"/>
              <a:t>: cd ~  </a:t>
            </a:r>
            <a:r>
              <a:rPr lang="zh-CN" altLang="en-US"/>
              <a:t>注意</a:t>
            </a:r>
            <a:r>
              <a:rPr lang="en-US" altLang="zh-CN"/>
              <a:t>: ~</a:t>
            </a:r>
            <a:r>
              <a:rPr lang="zh-CN" altLang="en-US"/>
              <a:t>可以省略</a:t>
            </a:r>
            <a:endParaRPr lang="zh-CN" altLang="en-US"/>
          </a:p>
          <a:p>
            <a:pPr indent="457200"/>
            <a:endParaRPr lang="zh-CN" altLang="en-US"/>
          </a:p>
          <a:p>
            <a:r>
              <a:rPr lang="zh-CN" altLang="en-US"/>
              <a:t>两个小技巧</a:t>
            </a:r>
            <a:r>
              <a:rPr lang="en-US" altLang="zh-CN"/>
              <a:t>: tab</a:t>
            </a:r>
            <a:r>
              <a:rPr lang="zh-CN" altLang="en-US"/>
              <a:t>补全文件名称</a:t>
            </a:r>
            <a:r>
              <a:rPr lang="en-US" altLang="zh-CN"/>
              <a:t>   </a:t>
            </a:r>
            <a:r>
              <a:rPr lang="en-US" altLang="en-US"/>
              <a:t>↑</a:t>
            </a:r>
            <a:r>
              <a:rPr lang="zh-CN" altLang="en-US"/>
              <a:t>和</a:t>
            </a:r>
            <a:r>
              <a:rPr lang="en-US" altLang="en-US"/>
              <a:t>↓</a:t>
            </a:r>
            <a:r>
              <a:rPr lang="zh-CN" altLang="en-US"/>
              <a:t>能够上下翻看历史命令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7561580" y="1461770"/>
            <a:ext cx="2950845" cy="29508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相对路径和绝对路径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相对路径和绝对路径</a:t>
            </a:r>
            <a:endParaRPr lang="zh-CN" altLang="en-US"/>
          </a:p>
          <a:p>
            <a:pPr indent="457200"/>
            <a:r>
              <a:rPr lang="zh-CN" altLang="en-US"/>
              <a:t>绝对路径</a:t>
            </a:r>
            <a:r>
              <a:rPr lang="en-US" altLang="zh-CN"/>
              <a:t>: </a:t>
            </a:r>
            <a:r>
              <a:rPr lang="zh-CN" altLang="en-US"/>
              <a:t>以根目录</a:t>
            </a:r>
            <a:r>
              <a:rPr lang="en-US" altLang="zh-CN"/>
              <a:t>'/'</a:t>
            </a:r>
            <a:r>
              <a:rPr lang="zh-CN" altLang="en-US"/>
              <a:t>做起点，描述路径的方式，路径以</a:t>
            </a:r>
            <a:r>
              <a:rPr lang="en-US" altLang="zh-CN"/>
              <a:t>/</a:t>
            </a:r>
            <a:r>
              <a:rPr lang="zh-CN" altLang="en-US"/>
              <a:t>开头</a:t>
            </a:r>
            <a:endParaRPr lang="zh-CN" altLang="en-US"/>
          </a:p>
          <a:p>
            <a:pPr indent="457200"/>
            <a:r>
              <a:rPr lang="zh-CN" altLang="en-US"/>
              <a:t>相对路径</a:t>
            </a:r>
            <a:r>
              <a:rPr lang="en-US" altLang="zh-CN"/>
              <a:t>: </a:t>
            </a:r>
            <a:r>
              <a:rPr lang="zh-CN" altLang="en-US"/>
              <a:t>以当前目录做起点，描述路径的方式，路径不需以</a:t>
            </a:r>
            <a:r>
              <a:rPr lang="en-US" altLang="zh-CN"/>
              <a:t>/</a:t>
            </a:r>
            <a:r>
              <a:rPr lang="zh-CN" altLang="en-US"/>
              <a:t>开头</a:t>
            </a:r>
            <a:endParaRPr lang="zh-CN" altLang="en-US"/>
          </a:p>
          <a:p>
            <a:pPr indent="457200"/>
            <a:r>
              <a:rPr lang="zh-CN" altLang="en-US"/>
              <a:t>如无特殊需求，后续学习中，将经常使用相对路径表示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特殊路径符有哪些？</a:t>
            </a:r>
            <a:endParaRPr lang="zh-CN" altLang="en-US"/>
          </a:p>
          <a:p>
            <a:pPr indent="457200"/>
            <a:r>
              <a:rPr lang="en-US" altLang="zh-CN"/>
              <a:t>.  </a:t>
            </a:r>
            <a:r>
              <a:rPr lang="zh-CN" altLang="en-US"/>
              <a:t>表示当前目录，</a:t>
            </a:r>
            <a:r>
              <a:rPr lang="en-US" altLang="zh-CN"/>
              <a:t>  </a:t>
            </a:r>
            <a:r>
              <a:rPr lang="zh-CN" altLang="en-US"/>
              <a:t>比如</a:t>
            </a:r>
            <a:r>
              <a:rPr lang="en-US" altLang="zh-CN"/>
              <a:t>:  cd .    </a:t>
            </a:r>
            <a:r>
              <a:rPr lang="zh-CN" altLang="en-US"/>
              <a:t>或</a:t>
            </a:r>
            <a:r>
              <a:rPr lang="en-US" altLang="zh-CN"/>
              <a:t> cd ./Desktop</a:t>
            </a:r>
            <a:endParaRPr lang="en-US" altLang="zh-CN"/>
          </a:p>
          <a:p>
            <a:pPr indent="457200"/>
            <a:r>
              <a:rPr lang="en-US" altLang="zh-CN"/>
              <a:t>.. </a:t>
            </a:r>
            <a:r>
              <a:rPr lang="zh-CN" altLang="en-US"/>
              <a:t>表示上一级目录，比如</a:t>
            </a:r>
            <a:r>
              <a:rPr lang="en-US" altLang="zh-CN"/>
              <a:t>:  cd ..   </a:t>
            </a:r>
            <a:r>
              <a:rPr lang="zh-CN" altLang="en-US"/>
              <a:t>或</a:t>
            </a:r>
            <a:r>
              <a:rPr lang="en-US" altLang="zh-CN"/>
              <a:t> cd ../..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4945380" cy="4511040"/>
          </a:xfrm>
        </p:spPr>
        <p:txBody>
          <a:bodyPr/>
          <a:p>
            <a:pPr marL="0" indent="0">
              <a:lnSpc>
                <a:spcPct val="190000"/>
              </a:lnSpc>
              <a:buNone/>
            </a:pPr>
            <a:r>
              <a:rPr lang="en-US" altLang="zh-CN">
                <a:sym typeface="+mn-ea"/>
              </a:rPr>
              <a:t>Linux</a:t>
            </a:r>
            <a:r>
              <a:rPr lang="zh-CN" altLang="en-US">
                <a:sym typeface="+mn-ea"/>
              </a:rPr>
              <a:t>命令格式</a:t>
            </a:r>
            <a:r>
              <a:rPr lang="en-US" altLang="zh-CN">
                <a:sym typeface="+mn-ea"/>
              </a:rPr>
              <a:t>?</a:t>
            </a:r>
            <a:endParaRPr lang="en-US" altLang="zh-CN">
              <a:sym typeface="+mn-ea"/>
            </a:endParaRPr>
          </a:p>
          <a:p>
            <a:pPr marL="0" indent="457200">
              <a:lnSpc>
                <a:spcPct val="190000"/>
              </a:lnSpc>
              <a:buNone/>
            </a:pPr>
            <a:r>
              <a:rPr kumimoji="1" lang="en-US" altLang="zh-CN" dirty="0">
                <a:sym typeface="+mn-ea"/>
              </a:rPr>
              <a:t>command [-options] [parameter]</a:t>
            </a:r>
            <a:br>
              <a:rPr kumimoji="1" lang="en-US" altLang="zh-CN" dirty="0">
                <a:sym typeface="+mn-ea"/>
              </a:rPr>
            </a:br>
            <a:r>
              <a:rPr kumimoji="1" lang="zh-CN" altLang="en-US" dirty="0">
                <a:sym typeface="+mn-ea"/>
              </a:rPr>
              <a:t>四大基础命令</a:t>
            </a:r>
            <a:r>
              <a:rPr kumimoji="1" lang="en-US" altLang="zh-CN" dirty="0">
                <a:sym typeface="+mn-ea"/>
              </a:rPr>
              <a:t>?</a:t>
            </a:r>
            <a:endParaRPr kumimoji="1" lang="en-US" altLang="zh-CN" dirty="0">
              <a:sym typeface="+mn-ea"/>
            </a:endParaRPr>
          </a:p>
          <a:p>
            <a:pPr marL="0" indent="457200">
              <a:lnSpc>
                <a:spcPct val="190000"/>
              </a:lnSpc>
              <a:buNone/>
            </a:pPr>
            <a:r>
              <a:rPr kumimoji="1" lang="en-US" altLang="zh-CN" dirty="0">
                <a:sym typeface="+mn-ea"/>
              </a:rPr>
              <a:t>ls</a:t>
            </a:r>
            <a:endParaRPr kumimoji="1" lang="en-US" altLang="zh-CN" dirty="0">
              <a:sym typeface="+mn-ea"/>
            </a:endParaRPr>
          </a:p>
          <a:p>
            <a:pPr marL="0" indent="457200">
              <a:lnSpc>
                <a:spcPct val="190000"/>
              </a:lnSpc>
              <a:buNone/>
            </a:pPr>
            <a:r>
              <a:rPr kumimoji="1" lang="en-US" altLang="zh-CN" dirty="0">
                <a:sym typeface="+mn-ea"/>
              </a:rPr>
              <a:t>cd</a:t>
            </a:r>
            <a:endParaRPr kumimoji="1" lang="en-US" altLang="zh-CN" dirty="0">
              <a:sym typeface="+mn-ea"/>
            </a:endParaRPr>
          </a:p>
          <a:p>
            <a:pPr marL="0" indent="457200">
              <a:lnSpc>
                <a:spcPct val="190000"/>
              </a:lnSpc>
              <a:buNone/>
            </a:pPr>
            <a:r>
              <a:rPr kumimoji="1" lang="en-US" altLang="zh-CN" dirty="0">
                <a:sym typeface="+mn-ea"/>
              </a:rPr>
              <a:t>pwd</a:t>
            </a:r>
            <a:endParaRPr kumimoji="1" lang="en-US" altLang="zh-CN" dirty="0">
              <a:sym typeface="+mn-ea"/>
            </a:endParaRPr>
          </a:p>
          <a:p>
            <a:pPr marL="0" indent="457200">
              <a:lnSpc>
                <a:spcPct val="190000"/>
              </a:lnSpc>
              <a:buNone/>
            </a:pPr>
            <a:r>
              <a:rPr kumimoji="1" lang="en-US" altLang="zh-CN" dirty="0">
                <a:sym typeface="+mn-ea"/>
              </a:rPr>
              <a:t>clear</a:t>
            </a:r>
            <a:endParaRPr kumimoji="1" lang="en-US" altLang="zh-CN" dirty="0"/>
          </a:p>
          <a:p>
            <a:pPr marL="0" indent="457200">
              <a:lnSpc>
                <a:spcPct val="190000"/>
              </a:lnSpc>
              <a:buNone/>
            </a:pP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掌握</a:t>
            </a:r>
            <a:r>
              <a:rPr lang="en-US" altLang="zh-CN">
                <a:solidFill>
                  <a:schemeClr val="tx1"/>
                </a:solidFill>
              </a:rPr>
              <a:t>ls</a:t>
            </a:r>
            <a:r>
              <a:rPr lang="zh-CN" altLang="en-US">
                <a:solidFill>
                  <a:schemeClr val="tx1"/>
                </a:solidFill>
              </a:rPr>
              <a:t>命令使用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知道如何查看帮助手册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ls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ls</a:t>
            </a:r>
            <a:r>
              <a:rPr lang="zh-CN" altLang="en-US"/>
              <a:t>命令的作用是列出目录下的内容，语法细节如下：</a:t>
            </a:r>
            <a:endParaRPr lang="zh-CN" altLang="en-US"/>
          </a:p>
          <a:p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 </a:t>
            </a:r>
            <a:r>
              <a:rPr lang="zh-CN" altLang="en-US"/>
              <a:t>查看指定路径下文件列表</a:t>
            </a:r>
            <a:r>
              <a:rPr lang="en-US" altLang="zh-CN"/>
              <a:t>  </a:t>
            </a:r>
            <a:r>
              <a:rPr lang="zh-CN" altLang="en-US"/>
              <a:t>注意</a:t>
            </a:r>
            <a:r>
              <a:rPr lang="en-US" altLang="zh-CN"/>
              <a:t>: </a:t>
            </a:r>
            <a:r>
              <a:rPr lang="zh-CN" altLang="en-US"/>
              <a:t>默认都是当前路径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	</a:t>
            </a:r>
            <a:r>
              <a:rPr lang="zh-CN" altLang="en-US"/>
              <a:t>参数</a:t>
            </a:r>
            <a:r>
              <a:rPr lang="en-US" altLang="zh-CN"/>
              <a:t> -a : </a:t>
            </a:r>
            <a:r>
              <a:rPr lang="zh-CN" altLang="en-US"/>
              <a:t>展示出隐藏文件</a:t>
            </a:r>
            <a:r>
              <a:rPr lang="en-US" altLang="zh-CN"/>
              <a:t>                     </a:t>
            </a:r>
            <a:r>
              <a:rPr lang="zh-CN" altLang="en-US"/>
              <a:t>注意</a:t>
            </a:r>
            <a:r>
              <a:rPr lang="en-US" altLang="zh-CN"/>
              <a:t>: .</a:t>
            </a:r>
            <a:r>
              <a:rPr lang="zh-CN" altLang="en-US"/>
              <a:t>开头就是隐藏文件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	</a:t>
            </a:r>
            <a:r>
              <a:rPr lang="zh-CN" altLang="en-US"/>
              <a:t>参数</a:t>
            </a:r>
            <a:r>
              <a:rPr lang="en-US" altLang="zh-CN"/>
              <a:t> -l : </a:t>
            </a:r>
            <a:r>
              <a:rPr lang="zh-CN" altLang="en-US"/>
              <a:t>以详细信息展示文件</a:t>
            </a:r>
            <a:r>
              <a:rPr lang="en-US" altLang="zh-CN"/>
              <a:t>   		</a:t>
            </a:r>
            <a:r>
              <a:rPr lang="zh-CN" altLang="en-US"/>
              <a:t>注意</a:t>
            </a:r>
            <a:r>
              <a:rPr lang="en-US" altLang="zh-CN"/>
              <a:t>: ls -l </a:t>
            </a:r>
            <a:r>
              <a:rPr lang="zh-CN" altLang="en-US"/>
              <a:t>可以简化为</a:t>
            </a:r>
            <a:r>
              <a:rPr lang="en-US" altLang="zh-CN"/>
              <a:t>ll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	</a:t>
            </a:r>
            <a:r>
              <a:rPr lang="zh-CN" altLang="en-US"/>
              <a:t>参数</a:t>
            </a:r>
            <a:r>
              <a:rPr lang="en-US" altLang="zh-CN"/>
              <a:t> -h : </a:t>
            </a:r>
            <a:r>
              <a:rPr lang="zh-CN" altLang="en-US"/>
              <a:t>配合</a:t>
            </a:r>
            <a:r>
              <a:rPr lang="en-US" altLang="zh-CN"/>
              <a:t>-l</a:t>
            </a:r>
            <a:r>
              <a:rPr lang="zh-CN" altLang="en-US"/>
              <a:t>使用</a:t>
            </a:r>
            <a:r>
              <a:rPr lang="en-US" altLang="zh-CN"/>
              <a:t>,</a:t>
            </a:r>
            <a:r>
              <a:rPr lang="zh-CN" altLang="en-US"/>
              <a:t>人性化展示文件大小</a:t>
            </a:r>
            <a:r>
              <a:rPr lang="en-US" altLang="zh-CN"/>
              <a:t>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      Linux</a:t>
            </a:r>
            <a:r>
              <a:rPr lang="zh-CN" altLang="en-US"/>
              <a:t>路径是此命令</a:t>
            </a:r>
            <a:r>
              <a:rPr lang="zh-CN" altLang="en-US">
                <a:solidFill>
                  <a:srgbClr val="FF0000"/>
                </a:solidFill>
              </a:rPr>
              <a:t>可选</a:t>
            </a:r>
            <a:r>
              <a:rPr lang="zh-CN" altLang="en-US"/>
              <a:t>的参数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当不使用选项和参数，直接使用</a:t>
            </a:r>
            <a:r>
              <a:rPr lang="en-US" altLang="zh-CN"/>
              <a:t>ls</a:t>
            </a:r>
            <a:r>
              <a:rPr lang="zh-CN" altLang="en-US"/>
              <a:t>命令本体，表示：以平铺</a:t>
            </a:r>
            <a:r>
              <a:rPr lang="zh-CN" altLang="en-US"/>
              <a:t>形式，列出当前工作目录下的内容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10000"/>
          <a:stretch>
            <a:fillRect/>
          </a:stretch>
        </p:blipFill>
        <p:spPr>
          <a:xfrm>
            <a:off x="786765" y="2162175"/>
            <a:ext cx="3753485" cy="381000"/>
          </a:xfrm>
          <a:prstGeom prst="rect">
            <a:avLst/>
          </a:prstGeom>
        </p:spPr>
      </p:pic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帮助</a:t>
            </a:r>
            <a:r>
              <a:rPr lang="en-US" altLang="zh-CN"/>
              <a:t>/</a:t>
            </a:r>
            <a:r>
              <a:t>手册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zh-CN" altLang="en-US"/>
          </a:p>
          <a:p>
            <a:r>
              <a:rPr lang="en-US" altLang="zh-CN"/>
              <a:t>help</a:t>
            </a:r>
            <a:r>
              <a:rPr lang="zh-CN" altLang="en-US"/>
              <a:t>查看帮助</a:t>
            </a:r>
            <a:r>
              <a:rPr lang="en-US" altLang="zh-CN"/>
              <a:t>: </a:t>
            </a:r>
            <a:r>
              <a:rPr lang="zh-CN" altLang="en-US"/>
              <a:t>命令</a:t>
            </a:r>
            <a:r>
              <a:rPr lang="en-US" altLang="zh-CN"/>
              <a:t> --help       </a:t>
            </a:r>
            <a:r>
              <a:rPr lang="zh-CN" altLang="en-US"/>
              <a:t>解释</a:t>
            </a:r>
            <a:r>
              <a:rPr lang="en-US" altLang="zh-CN"/>
              <a:t>:</a:t>
            </a:r>
            <a:r>
              <a:rPr lang="zh-CN" altLang="en-US"/>
              <a:t>会列出命令的帮助文档</a:t>
            </a:r>
            <a:r>
              <a:rPr lang="en-US" altLang="zh-CN"/>
              <a:t>   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举例</a:t>
            </a:r>
            <a:r>
              <a:rPr lang="en-US" altLang="zh-CN"/>
              <a:t>: ls --help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man</a:t>
            </a:r>
            <a:r>
              <a:rPr lang="zh-CN" altLang="en-US"/>
              <a:t>查看手册</a:t>
            </a:r>
            <a:r>
              <a:rPr lang="en-US" altLang="zh-CN"/>
              <a:t>:  man  </a:t>
            </a:r>
            <a:r>
              <a:rPr lang="zh-CN" altLang="en-US"/>
              <a:t>命令</a:t>
            </a:r>
            <a:r>
              <a:rPr lang="en-US" altLang="zh-CN"/>
              <a:t>         </a:t>
            </a:r>
            <a:r>
              <a:rPr lang="zh-CN" altLang="en-US"/>
              <a:t>解释</a:t>
            </a:r>
            <a:r>
              <a:rPr lang="en-US" altLang="zh-CN"/>
              <a:t>: man</a:t>
            </a:r>
            <a:r>
              <a:rPr lang="zh-CN" altLang="en-US"/>
              <a:t>（</a:t>
            </a:r>
            <a:r>
              <a:rPr lang="en-US" altLang="zh-CN"/>
              <a:t>manual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手册）命令查看详细手册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举例</a:t>
            </a:r>
            <a:r>
              <a:rPr lang="en-US" altLang="zh-CN"/>
              <a:t>: man ls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pPr marL="0" indent="0">
              <a:buNone/>
            </a:pPr>
            <a:r>
              <a:rPr lang="zh-CN">
                <a:solidFill>
                  <a:schemeClr val="tx1"/>
                </a:solidFill>
              </a:rPr>
              <a:t>熟悉目录的创建</a:t>
            </a:r>
            <a:endParaRPr 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>
                <a:solidFill>
                  <a:schemeClr val="tx1"/>
                </a:solidFill>
              </a:rPr>
              <a:t>熟悉文件的创建</a:t>
            </a:r>
            <a:endParaRPr 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mkdir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mkdir [-p] </a:t>
            </a:r>
            <a:r>
              <a:rPr lang="zh-CN" altLang="en-US"/>
              <a:t>目录路径</a:t>
            </a:r>
            <a:r>
              <a:rPr lang="en-US" altLang="zh-CN"/>
              <a:t> : </a:t>
            </a:r>
            <a:r>
              <a:rPr lang="zh-CN" altLang="en-US"/>
              <a:t>创建指定目录</a:t>
            </a:r>
            <a:r>
              <a:rPr lang="en-US" altLang="zh-CN"/>
              <a:t>   </a:t>
            </a:r>
            <a:endParaRPr lang="en-US" altLang="zh-CN"/>
          </a:p>
          <a:p>
            <a:r>
              <a:rPr lang="en-US" altLang="zh-CN"/>
              <a:t>	-p:</a:t>
            </a:r>
            <a:r>
              <a:rPr lang="zh-CN" altLang="en-US"/>
              <a:t>可选，表示自动创建不存在的父目录，适用于创建连续多层级的目录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创建一级目录</a:t>
            </a:r>
            <a:r>
              <a:rPr lang="en-US" altLang="zh-CN"/>
              <a:t>: mkdir </a:t>
            </a:r>
            <a:r>
              <a:rPr lang="zh-CN" altLang="en-US"/>
              <a:t>目录路径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创建多个同级目录</a:t>
            </a:r>
            <a:r>
              <a:rPr lang="en-US" altLang="zh-CN"/>
              <a:t>: mkdir </a:t>
            </a:r>
            <a:r>
              <a:rPr lang="zh-CN" altLang="en-US"/>
              <a:t>目录路径</a:t>
            </a:r>
            <a:r>
              <a:rPr lang="en-US" altLang="zh-CN"/>
              <a:t>1  </a:t>
            </a:r>
            <a:r>
              <a:rPr lang="zh-CN" altLang="en-US"/>
              <a:t>目录路径</a:t>
            </a:r>
            <a:r>
              <a:rPr lang="en-US" altLang="zh-CN"/>
              <a:t>2 ...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创建父子嵌套目录</a:t>
            </a:r>
            <a:r>
              <a:rPr lang="en-US" altLang="zh-CN"/>
              <a:t>: mkdir -p </a:t>
            </a:r>
            <a:r>
              <a:rPr lang="zh-CN" altLang="en-US"/>
              <a:t>目录路径</a:t>
            </a:r>
            <a:r>
              <a:rPr lang="en-US" altLang="zh-CN"/>
              <a:t>1/</a:t>
            </a:r>
            <a:r>
              <a:rPr lang="zh-CN" altLang="en-US"/>
              <a:t>目录路径</a:t>
            </a:r>
            <a:r>
              <a:rPr lang="en-US" altLang="zh-CN"/>
              <a:t>2/...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touch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en-US" altLang="zh-CN"/>
          </a:p>
          <a:p>
            <a:r>
              <a:rPr lang="en-US" altLang="zh-CN"/>
              <a:t>touch </a:t>
            </a:r>
            <a:r>
              <a:rPr lang="zh-CN" altLang="en-US"/>
              <a:t>文件路径</a:t>
            </a:r>
            <a:r>
              <a:rPr lang="en-US" altLang="zh-CN"/>
              <a:t>: </a:t>
            </a:r>
            <a:r>
              <a:rPr lang="zh-CN" altLang="en-US"/>
              <a:t>创建指定文件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创建一个文件</a:t>
            </a:r>
            <a:r>
              <a:rPr lang="en-US" altLang="zh-CN"/>
              <a:t>: touch </a:t>
            </a:r>
            <a:r>
              <a:rPr lang="zh-CN" altLang="en-US"/>
              <a:t>文件路径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创建多个文件</a:t>
            </a:r>
            <a:r>
              <a:rPr lang="en-US" altLang="zh-CN"/>
              <a:t>: touch </a:t>
            </a:r>
            <a:r>
              <a:rPr lang="zh-CN" altLang="en-US"/>
              <a:t>文件路径</a:t>
            </a:r>
            <a:r>
              <a:rPr lang="en-US" altLang="zh-CN"/>
              <a:t>1  </a:t>
            </a:r>
            <a:r>
              <a:rPr lang="zh-CN" altLang="en-US"/>
              <a:t>文件路径</a:t>
            </a:r>
            <a:r>
              <a:rPr lang="en-US" altLang="zh-CN"/>
              <a:t>2 ...</a:t>
            </a:r>
            <a:endParaRPr lang="en-US" altLang="zh-CN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pPr marL="0" indent="0">
              <a:buNone/>
            </a:pPr>
            <a:r>
              <a:rPr lang="zh-CN">
                <a:solidFill>
                  <a:schemeClr val="tx1"/>
                </a:solidFill>
              </a:rPr>
              <a:t>熟悉文件的查看命令</a:t>
            </a:r>
            <a:endParaRPr 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cat/more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en-US" altLang="zh-CN"/>
          </a:p>
          <a:p>
            <a:r>
              <a:rPr lang="en-US" altLang="zh-CN"/>
              <a:t>cat [-n] </a:t>
            </a:r>
            <a:r>
              <a:rPr lang="zh-CN" altLang="en-US"/>
              <a:t>文件</a:t>
            </a:r>
            <a:r>
              <a:rPr lang="en-US" altLang="zh-CN"/>
              <a:t> :  cat</a:t>
            </a:r>
            <a:r>
              <a:rPr lang="zh-CN" altLang="en-US"/>
              <a:t>查看文件内容</a:t>
            </a:r>
            <a:r>
              <a:rPr lang="en-US" altLang="zh-CN"/>
              <a:t>,</a:t>
            </a:r>
            <a:r>
              <a:rPr lang="zh-CN" altLang="en-US"/>
              <a:t>一般建议查看小文件</a:t>
            </a:r>
            <a:endParaRPr lang="zh-CN" altLang="en-US"/>
          </a:p>
          <a:p>
            <a:r>
              <a:rPr lang="en-US" altLang="zh-CN"/>
              <a:t>		  -n :</a:t>
            </a:r>
            <a:r>
              <a:rPr lang="zh-CN" altLang="en-US"/>
              <a:t>显示行号</a:t>
            </a:r>
            <a:endParaRPr lang="zh-CN" altLang="en-US"/>
          </a:p>
          <a:p>
            <a:r>
              <a:rPr lang="en-US" altLang="zh-CN"/>
              <a:t>		  </a:t>
            </a:r>
            <a:endParaRPr lang="en-US" altLang="zh-CN"/>
          </a:p>
          <a:p>
            <a:r>
              <a:rPr lang="en-US" altLang="zh-CN"/>
              <a:t>more [-num] </a:t>
            </a:r>
            <a:r>
              <a:rPr lang="zh-CN" altLang="en-US"/>
              <a:t>文件</a:t>
            </a:r>
            <a:r>
              <a:rPr lang="en-US" altLang="zh-CN"/>
              <a:t>:  more</a:t>
            </a:r>
            <a:r>
              <a:rPr lang="zh-CN" altLang="en-US"/>
              <a:t>查看文件内容</a:t>
            </a:r>
            <a:r>
              <a:rPr lang="en-US" altLang="zh-CN"/>
              <a:t>,</a:t>
            </a:r>
            <a:r>
              <a:rPr lang="zh-CN" altLang="en-US"/>
              <a:t>一般建议查看大文件</a:t>
            </a:r>
            <a:r>
              <a:rPr lang="en-US" altLang="zh-CN"/>
              <a:t>(</a:t>
            </a:r>
            <a:r>
              <a:rPr lang="zh-CN" altLang="en-US"/>
              <a:t>可以翻页</a:t>
            </a:r>
            <a:r>
              <a:rPr lang="en-US" altLang="zh-CN"/>
              <a:t>)</a:t>
            </a:r>
            <a:endParaRPr lang="en-US" altLang="zh-CN"/>
          </a:p>
          <a:p>
            <a:r>
              <a:rPr lang="en-US" altLang="zh-CN"/>
              <a:t>		  </a:t>
            </a:r>
            <a:r>
              <a:rPr lang="zh-CN" altLang="en-US"/>
              <a:t>空格</a:t>
            </a:r>
            <a:r>
              <a:rPr lang="en-US" altLang="zh-CN"/>
              <a:t>: </a:t>
            </a:r>
            <a:r>
              <a:rPr lang="zh-CN" altLang="en-US"/>
              <a:t>下一页</a:t>
            </a:r>
            <a:endParaRPr lang="zh-CN" altLang="en-US"/>
          </a:p>
          <a:p>
            <a:r>
              <a:rPr lang="en-US" altLang="zh-CN"/>
              <a:t>		  b  : </a:t>
            </a:r>
            <a:r>
              <a:rPr lang="zh-CN" altLang="en-US"/>
              <a:t>上一页</a:t>
            </a:r>
            <a:endParaRPr lang="zh-CN" altLang="en-US"/>
          </a:p>
          <a:p>
            <a:r>
              <a:rPr lang="en-US" altLang="zh-CN"/>
              <a:t>		  q  : </a:t>
            </a:r>
            <a:r>
              <a:rPr lang="zh-CN" altLang="en-US"/>
              <a:t>退出</a:t>
            </a:r>
            <a:endParaRPr lang="zh-CN" altLang="en-US"/>
          </a:p>
          <a:p>
            <a:r>
              <a:rPr lang="en-US" altLang="zh-CN"/>
              <a:t>		  -num: </a:t>
            </a:r>
            <a:r>
              <a:rPr lang="zh-CN" altLang="en-US"/>
              <a:t>展示条数</a:t>
            </a:r>
            <a:r>
              <a:rPr lang="en-US" altLang="zh-CN"/>
              <a:t>  </a:t>
            </a:r>
            <a:r>
              <a:rPr lang="zh-CN" altLang="en-US"/>
              <a:t>举例</a:t>
            </a:r>
            <a:r>
              <a:rPr lang="en-US" altLang="zh-CN"/>
              <a:t>: more -10 </a:t>
            </a:r>
            <a:r>
              <a:rPr lang="zh-CN" altLang="en-US"/>
              <a:t>文件</a:t>
            </a:r>
            <a:endParaRPr lang="zh-CN" altLang="en-US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head/tail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en-US" altLang="zh-CN"/>
          </a:p>
          <a:p>
            <a:r>
              <a:rPr lang="en-US" altLang="zh-CN" b="1"/>
              <a:t>head [-num] </a:t>
            </a:r>
            <a:r>
              <a:rPr lang="zh-CN" altLang="en-US" b="1"/>
              <a:t>文件路径</a:t>
            </a:r>
            <a:r>
              <a:rPr lang="en-US" altLang="zh-CN" b="1"/>
              <a:t>:  </a:t>
            </a:r>
            <a:r>
              <a:rPr lang="zh-CN" altLang="en-US" b="1"/>
              <a:t>查看文件的头部几行</a:t>
            </a:r>
            <a:r>
              <a:rPr lang="en-US" altLang="zh-CN" b="1"/>
              <a:t>   </a:t>
            </a:r>
            <a:endParaRPr lang="en-US" altLang="zh-CN" b="1"/>
          </a:p>
          <a:p>
            <a:pPr marL="457200" lvl="1" indent="457200"/>
            <a:r>
              <a:rPr lang="zh-CN" altLang="en-US" b="0"/>
              <a:t>默认前</a:t>
            </a:r>
            <a:r>
              <a:rPr lang="en-US" altLang="zh-CN" b="0"/>
              <a:t>10</a:t>
            </a:r>
            <a:r>
              <a:rPr lang="zh-CN" altLang="en-US" b="0"/>
              <a:t>行</a:t>
            </a:r>
            <a:r>
              <a:rPr lang="en-US" altLang="zh-CN" b="0"/>
              <a:t>   </a:t>
            </a:r>
            <a:endParaRPr lang="en-US" altLang="zh-CN" b="0"/>
          </a:p>
          <a:p>
            <a:pPr marL="457200" lvl="1" indent="457200"/>
            <a:r>
              <a:rPr lang="zh-CN" altLang="en-US" b="0"/>
              <a:t>当然</a:t>
            </a:r>
            <a:r>
              <a:rPr lang="en-US" altLang="zh-CN" b="0"/>
              <a:t>-num</a:t>
            </a:r>
            <a:r>
              <a:rPr lang="zh-CN" altLang="en-US" b="0"/>
              <a:t>可以指定任意行数</a:t>
            </a:r>
            <a:endParaRPr lang="zh-CN" altLang="en-US" b="0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 b="1"/>
              <a:t>tail [-num] </a:t>
            </a:r>
            <a:r>
              <a:rPr lang="zh-CN" altLang="en-US" b="1"/>
              <a:t>文件路径</a:t>
            </a:r>
            <a:r>
              <a:rPr lang="en-US" altLang="zh-CN" b="1"/>
              <a:t>:  </a:t>
            </a:r>
            <a:r>
              <a:rPr lang="zh-CN" altLang="en-US" b="1"/>
              <a:t>查看文件的尾部几行</a:t>
            </a:r>
            <a:r>
              <a:rPr lang="en-US" altLang="zh-CN" b="1"/>
              <a:t>   </a:t>
            </a:r>
            <a:endParaRPr lang="en-US" altLang="zh-CN" b="1"/>
          </a:p>
          <a:p>
            <a:pPr marL="457200" lvl="1" indent="457200"/>
            <a:r>
              <a:rPr lang="zh-CN" altLang="en-US" b="0"/>
              <a:t>默认后</a:t>
            </a:r>
            <a:r>
              <a:rPr lang="en-US" altLang="zh-CN" b="0"/>
              <a:t>10</a:t>
            </a:r>
            <a:r>
              <a:rPr lang="zh-CN" altLang="en-US" b="0"/>
              <a:t>行</a:t>
            </a:r>
            <a:r>
              <a:rPr lang="en-US" altLang="zh-CN" b="0"/>
              <a:t>   </a:t>
            </a:r>
            <a:endParaRPr lang="en-US" altLang="zh-CN" b="0"/>
          </a:p>
          <a:p>
            <a:pPr marL="457200" lvl="1" indent="457200"/>
            <a:r>
              <a:rPr lang="zh-CN" altLang="en-US" b="0"/>
              <a:t>当然</a:t>
            </a:r>
            <a:r>
              <a:rPr lang="en-US" altLang="zh-CN" b="0"/>
              <a:t>-num</a:t>
            </a:r>
            <a:r>
              <a:rPr lang="zh-CN" altLang="en-US" b="0"/>
              <a:t>可以指定任意行数</a:t>
            </a:r>
            <a:endParaRPr lang="zh-CN" altLang="en-US" b="0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61230" y="1723390"/>
            <a:ext cx="6298565" cy="2592705"/>
          </a:xfrm>
        </p:spPr>
        <p:txBody>
          <a:bodyPr/>
          <a:p>
            <a:pPr marL="0" indent="0">
              <a:buNone/>
            </a:pPr>
            <a:r>
              <a:rPr lang="zh-CN">
                <a:solidFill>
                  <a:schemeClr val="tx1"/>
                </a:solidFill>
              </a:rPr>
              <a:t>熟悉目录和文件的复制命令</a:t>
            </a:r>
            <a:endParaRPr 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>
                <a:solidFill>
                  <a:schemeClr val="tx1"/>
                </a:solidFill>
                <a:sym typeface="+mn-ea"/>
              </a:rPr>
              <a:t>熟悉目录和文件的移动命令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>
                <a:solidFill>
                  <a:schemeClr val="tx1"/>
                </a:solidFill>
                <a:sym typeface="+mn-ea"/>
              </a:rPr>
              <a:t>熟悉目录和文件的删除命令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cp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复制的英文单词</a:t>
            </a:r>
            <a:r>
              <a:rPr lang="en-US" altLang="zh-CN"/>
              <a:t>: copy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cp [-r] </a:t>
            </a:r>
            <a:r>
              <a:rPr lang="zh-CN" altLang="en-US"/>
              <a:t>要复制的文件或者文件夹</a:t>
            </a:r>
            <a:r>
              <a:rPr lang="en-US" altLang="zh-CN"/>
              <a:t>  </a:t>
            </a:r>
            <a:r>
              <a:rPr lang="zh-CN" altLang="en-US"/>
              <a:t>目标位置</a:t>
            </a:r>
            <a:r>
              <a:rPr lang="en-US" altLang="zh-CN"/>
              <a:t>    : </a:t>
            </a:r>
            <a:r>
              <a:rPr lang="zh-CN" altLang="en-US"/>
              <a:t>复制文件或者文件夹到指定目标位置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注意</a:t>
            </a:r>
            <a:r>
              <a:rPr lang="en-US" altLang="zh-CN"/>
              <a:t>: -r </a:t>
            </a:r>
            <a:r>
              <a:rPr lang="zh-CN" altLang="en-US"/>
              <a:t>主要用于复制文件夹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注意</a:t>
            </a:r>
            <a:r>
              <a:rPr lang="en-US" altLang="zh-CN"/>
              <a:t>: cp</a:t>
            </a:r>
            <a:r>
              <a:rPr lang="zh-CN" altLang="en-US"/>
              <a:t>复制文件后</a:t>
            </a:r>
            <a:r>
              <a:rPr lang="en-US" altLang="zh-CN"/>
              <a:t>,</a:t>
            </a:r>
            <a:r>
              <a:rPr lang="zh-CN" altLang="en-US"/>
              <a:t>源文件依然存在</a:t>
            </a:r>
            <a:endParaRPr lang="zh-CN" altLang="en-US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mv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移动的英文单词</a:t>
            </a:r>
            <a:r>
              <a:rPr lang="en-US" altLang="zh-CN"/>
              <a:t>: move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mv </a:t>
            </a:r>
            <a:r>
              <a:rPr lang="zh-CN" altLang="en-US"/>
              <a:t>要移动的文件或者文件夹</a:t>
            </a:r>
            <a:r>
              <a:rPr lang="en-US" altLang="zh-CN"/>
              <a:t>  </a:t>
            </a:r>
            <a:r>
              <a:rPr lang="zh-CN" altLang="en-US"/>
              <a:t>目标位置</a:t>
            </a:r>
            <a:r>
              <a:rPr lang="en-US" altLang="zh-CN"/>
              <a:t>: </a:t>
            </a:r>
            <a:r>
              <a:rPr lang="zh-CN" altLang="en-US"/>
              <a:t>移动文件或者文件夹到指定目标位置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注意</a:t>
            </a:r>
            <a:r>
              <a:rPr lang="en-US" altLang="zh-CN"/>
              <a:t>: </a:t>
            </a:r>
            <a:r>
              <a:rPr lang="zh-CN" altLang="en-US"/>
              <a:t>目标位置是文件</a:t>
            </a:r>
            <a:r>
              <a:rPr lang="en-US" altLang="zh-CN"/>
              <a:t>,</a:t>
            </a:r>
            <a:r>
              <a:rPr lang="zh-CN" altLang="en-US"/>
              <a:t>文件不存在就会直接改名</a:t>
            </a:r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           </a:t>
            </a:r>
            <a:r>
              <a:rPr lang="zh-CN" altLang="en-US"/>
              <a:t>如果想要把文件移动到目录中</a:t>
            </a:r>
            <a:r>
              <a:rPr lang="en-US" altLang="zh-CN"/>
              <a:t>,</a:t>
            </a:r>
            <a:r>
              <a:rPr lang="zh-CN" altLang="en-US"/>
              <a:t>此目录一定要存在</a:t>
            </a:r>
            <a:r>
              <a:rPr lang="en-US" altLang="zh-CN"/>
              <a:t>,</a:t>
            </a:r>
            <a:r>
              <a:rPr lang="zh-CN" altLang="en-US"/>
              <a:t>否则当成了普通文件改名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注意</a:t>
            </a:r>
            <a:r>
              <a:rPr lang="en-US" altLang="zh-CN"/>
              <a:t>: mv</a:t>
            </a:r>
            <a:r>
              <a:rPr lang="zh-CN" altLang="en-US"/>
              <a:t>移动文件后</a:t>
            </a:r>
            <a:r>
              <a:rPr lang="en-US" altLang="zh-CN"/>
              <a:t>,</a:t>
            </a:r>
            <a:r>
              <a:rPr lang="zh-CN" altLang="en-US"/>
              <a:t>源文件不存在</a:t>
            </a:r>
            <a:endParaRPr lang="zh-CN" altLang="en-US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rm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移除的英文单词</a:t>
            </a:r>
            <a:r>
              <a:rPr lang="en-US" altLang="zh-CN"/>
              <a:t>: remove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rm [-r -f] </a:t>
            </a:r>
            <a:r>
              <a:rPr lang="zh-CN" altLang="en-US"/>
              <a:t>要删除的文件或者文件夹</a:t>
            </a:r>
            <a:r>
              <a:rPr lang="en-US" altLang="zh-CN"/>
              <a:t>:  </a:t>
            </a:r>
            <a:r>
              <a:rPr lang="zh-CN" altLang="en-US"/>
              <a:t>删除指定的文件或者文件夹</a:t>
            </a:r>
            <a:endParaRPr lang="en-US" altLang="zh-CN"/>
          </a:p>
          <a:p>
            <a:r>
              <a:rPr lang="en-US" altLang="zh-CN"/>
              <a:t>	 -r :</a:t>
            </a:r>
            <a:r>
              <a:rPr lang="zh-CN" altLang="en-US"/>
              <a:t>主要用于删除文件夹</a:t>
            </a:r>
            <a:r>
              <a:rPr lang="en-US" altLang="zh-CN"/>
              <a:t>        </a:t>
            </a:r>
            <a:endParaRPr lang="en-US" altLang="zh-CN"/>
          </a:p>
          <a:p>
            <a:r>
              <a:rPr lang="en-US" altLang="zh-CN"/>
              <a:t>          -f :</a:t>
            </a:r>
            <a:r>
              <a:rPr lang="zh-CN" altLang="en-US"/>
              <a:t>主要用于强制删除文件或者文件夹</a:t>
            </a:r>
            <a:endParaRPr lang="zh-CN" altLang="en-US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61230" y="1531620"/>
            <a:ext cx="6298565" cy="2592705"/>
          </a:xfrm>
        </p:spPr>
        <p:txBody>
          <a:bodyPr/>
          <a:p>
            <a:pPr marL="0" indent="0">
              <a:buNone/>
            </a:pPr>
            <a:r>
              <a:rPr lang="zh-CN">
                <a:solidFill>
                  <a:schemeClr val="tx1"/>
                </a:solidFill>
              </a:rPr>
              <a:t>熟悉</a:t>
            </a:r>
            <a:r>
              <a:rPr lang="en-US" altLang="zh-CN">
                <a:solidFill>
                  <a:schemeClr val="tx1"/>
                </a:solidFill>
              </a:rPr>
              <a:t>echo</a:t>
            </a:r>
            <a:r>
              <a:rPr lang="zh-CN" altLang="en-US">
                <a:solidFill>
                  <a:schemeClr val="tx1"/>
                </a:solidFill>
              </a:rPr>
              <a:t>命令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熟悉重定向命令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echo/</a:t>
            </a:r>
            <a:r>
              <a:t>重定向命令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echo: </a:t>
            </a:r>
            <a:r>
              <a:rPr lang="zh-CN" altLang="en-US"/>
              <a:t>默认打印到控制台</a:t>
            </a:r>
            <a:r>
              <a:rPr lang="en-US" altLang="zh-CN"/>
              <a:t>,</a:t>
            </a:r>
            <a:r>
              <a:rPr lang="zh-CN" altLang="en-US"/>
              <a:t>但是经常配合重定向符号使用</a:t>
            </a:r>
            <a:endParaRPr lang="zh-CN" altLang="en-US"/>
          </a:p>
          <a:p>
            <a:pPr indent="457200"/>
            <a:r>
              <a:rPr lang="zh-CN" altLang="en-US"/>
              <a:t>示例：</a:t>
            </a:r>
            <a:r>
              <a:rPr lang="en-US" altLang="zh-CN"/>
              <a:t>echo </a:t>
            </a:r>
            <a:r>
              <a:rPr lang="zh-CN" altLang="en-US"/>
              <a:t>要打印的内容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重定向命令</a:t>
            </a:r>
            <a:endParaRPr lang="en-US" altLang="zh-CN"/>
          </a:p>
          <a:p>
            <a:pPr indent="457200"/>
            <a:r>
              <a:rPr lang="en-US" altLang="zh-CN"/>
              <a:t>&gt; : </a:t>
            </a:r>
            <a:r>
              <a:rPr lang="zh-CN" altLang="en-US"/>
              <a:t>覆盖写入</a:t>
            </a:r>
            <a:endParaRPr lang="zh-CN" altLang="en-US"/>
          </a:p>
          <a:p>
            <a:pPr indent="457200"/>
            <a:r>
              <a:rPr lang="en-US" altLang="zh-CN"/>
              <a:t>&gt;&gt; : </a:t>
            </a:r>
            <a:r>
              <a:rPr lang="zh-CN" altLang="en-US"/>
              <a:t>追加写入</a:t>
            </a:r>
            <a:endParaRPr lang="zh-CN" altLang="en-US"/>
          </a:p>
          <a:p>
            <a:r>
              <a:rPr lang="en-US" altLang="zh-CN"/>
              <a:t>	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注意</a:t>
            </a:r>
            <a:r>
              <a:rPr lang="en-US" altLang="zh-CN"/>
              <a:t>: </a:t>
            </a:r>
            <a:r>
              <a:rPr lang="zh-CN" altLang="en-US"/>
              <a:t>重定向符号经常和</a:t>
            </a:r>
            <a:r>
              <a:rPr lang="en-US" altLang="zh-CN"/>
              <a:t>echo</a:t>
            </a:r>
            <a:r>
              <a:rPr lang="zh-CN" altLang="en-US"/>
              <a:t>一起使用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示例：</a:t>
            </a:r>
            <a:r>
              <a:rPr lang="en-US" altLang="zh-CN"/>
              <a:t> echo ‘hello’ &gt;&gt; h.txt</a:t>
            </a:r>
            <a:endParaRPr lang="en-US" altLang="zh-CN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61230" y="1531620"/>
            <a:ext cx="6298565" cy="2592705"/>
          </a:xfrm>
        </p:spPr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掌握</a:t>
            </a:r>
            <a:r>
              <a:rPr lang="en-US" altLang="zh-CN">
                <a:solidFill>
                  <a:schemeClr val="tx1"/>
                </a:solidFill>
              </a:rPr>
              <a:t>tar</a:t>
            </a:r>
            <a:r>
              <a:rPr lang="zh-CN" altLang="en-US">
                <a:solidFill>
                  <a:schemeClr val="tx1"/>
                </a:solidFill>
              </a:rPr>
              <a:t>命令使用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tar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普通打包格式</a:t>
            </a:r>
            <a:r>
              <a:rPr lang="en-US" altLang="zh-CN"/>
              <a:t>: tar -cvf </a:t>
            </a:r>
            <a:r>
              <a:rPr lang="zh-CN" altLang="en-US"/>
              <a:t>包名</a:t>
            </a:r>
            <a:r>
              <a:rPr lang="en-US" altLang="zh-CN"/>
              <a:t>.tar </a:t>
            </a:r>
            <a:r>
              <a:rPr lang="zh-CN" altLang="en-US"/>
              <a:t>多个文件或者目录</a:t>
            </a:r>
            <a:endParaRPr lang="zh-CN" altLang="en-US"/>
          </a:p>
          <a:p>
            <a:r>
              <a:rPr lang="zh-CN" altLang="en-US"/>
              <a:t>普通解包格式</a:t>
            </a:r>
            <a:r>
              <a:rPr lang="en-US" altLang="zh-CN"/>
              <a:t>: tar -xvf </a:t>
            </a:r>
            <a:r>
              <a:rPr lang="zh-CN" altLang="en-US"/>
              <a:t>包名</a:t>
            </a:r>
            <a:r>
              <a:rPr lang="en-US" altLang="zh-CN"/>
              <a:t>.tar -C </a:t>
            </a:r>
            <a:r>
              <a:rPr lang="zh-CN" altLang="en-US"/>
              <a:t>目标位置路径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参数解释</a:t>
            </a:r>
            <a:r>
              <a:rPr lang="en-US" altLang="zh-CN"/>
              <a:t>:</a:t>
            </a:r>
            <a:endParaRPr lang="en-US" altLang="zh-CN"/>
          </a:p>
          <a:p>
            <a:pPr indent="457200"/>
            <a:r>
              <a:rPr lang="en-US" altLang="zh-CN"/>
              <a:t>-c</a:t>
            </a:r>
            <a:r>
              <a:rPr lang="zh-CN" altLang="en-US"/>
              <a:t>，创建打包文件，用于打包模式</a:t>
            </a:r>
            <a:endParaRPr lang="zh-CN" altLang="en-US"/>
          </a:p>
          <a:p>
            <a:pPr indent="457200"/>
            <a:r>
              <a:rPr lang="en-US" altLang="zh-CN"/>
              <a:t>-v</a:t>
            </a:r>
            <a:r>
              <a:rPr lang="zh-CN" altLang="en-US"/>
              <a:t>，显示打包</a:t>
            </a:r>
            <a:r>
              <a:rPr lang="en-US" altLang="zh-CN"/>
              <a:t>/</a:t>
            </a:r>
            <a:r>
              <a:rPr lang="zh-CN" altLang="en-US">
                <a:sym typeface="+mn-ea"/>
              </a:rPr>
              <a:t>打包</a:t>
            </a:r>
            <a:r>
              <a:rPr lang="zh-CN" altLang="en-US"/>
              <a:t>过程，用于查看进度</a:t>
            </a:r>
            <a:endParaRPr lang="zh-CN" altLang="en-US"/>
          </a:p>
          <a:p>
            <a:pPr indent="457200"/>
            <a:r>
              <a:rPr lang="en-US" altLang="zh-CN"/>
              <a:t>-x</a:t>
            </a:r>
            <a:r>
              <a:rPr lang="zh-CN" altLang="en-US"/>
              <a:t>，解压模式</a:t>
            </a:r>
            <a:endParaRPr lang="zh-CN" altLang="en-US"/>
          </a:p>
          <a:p>
            <a:pPr indent="457200"/>
            <a:r>
              <a:rPr lang="en-US" altLang="zh-CN"/>
              <a:t>-f</a:t>
            </a:r>
            <a:r>
              <a:rPr lang="zh-CN" altLang="en-US"/>
              <a:t>，要</a:t>
            </a:r>
            <a:r>
              <a:rPr lang="zh-CN" altLang="en-US">
                <a:sym typeface="+mn-ea"/>
              </a:rPr>
              <a:t>打包</a:t>
            </a:r>
            <a:r>
              <a:rPr lang="zh-CN" altLang="en-US"/>
              <a:t>的文件，或要</a:t>
            </a:r>
            <a:r>
              <a:rPr lang="zh-CN" altLang="en-US" b="1"/>
              <a:t>解压</a:t>
            </a:r>
            <a:r>
              <a:rPr lang="zh-CN" altLang="en-US"/>
              <a:t>的文件，</a:t>
            </a:r>
            <a:r>
              <a:rPr lang="en-US" altLang="zh-CN"/>
              <a:t>-f</a:t>
            </a:r>
            <a:r>
              <a:rPr lang="zh-CN" altLang="en-US"/>
              <a:t>选项必须在所有选项中位置处于最后一个</a:t>
            </a:r>
            <a:endParaRPr lang="zh-CN" altLang="en-US"/>
          </a:p>
          <a:p>
            <a:pPr indent="457200"/>
            <a:r>
              <a:rPr lang="en-US" altLang="zh-CN"/>
              <a:t>-C</a:t>
            </a:r>
            <a:r>
              <a:rPr lang="zh-CN" altLang="en-US"/>
              <a:t>，选择解包的目的地，用于解包模式</a:t>
            </a:r>
            <a:endParaRPr lang="zh-CN" altLang="en-US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tar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gzip</a:t>
            </a:r>
            <a:r>
              <a:rPr lang="zh-CN" altLang="en-US"/>
              <a:t>压缩格式</a:t>
            </a:r>
            <a:r>
              <a:rPr lang="en-US" altLang="zh-CN"/>
              <a:t>:  tar -zcvf </a:t>
            </a:r>
            <a:r>
              <a:rPr lang="zh-CN" altLang="en-US"/>
              <a:t>包名</a:t>
            </a:r>
            <a:r>
              <a:rPr lang="en-US" altLang="zh-CN"/>
              <a:t>.tar.gz </a:t>
            </a:r>
            <a:r>
              <a:rPr lang="zh-CN" altLang="en-US"/>
              <a:t>多个文件或者目录</a:t>
            </a:r>
            <a:endParaRPr lang="zh-CN" altLang="en-US"/>
          </a:p>
          <a:p>
            <a:r>
              <a:rPr lang="en-US" altLang="zh-CN"/>
              <a:t>gzip</a:t>
            </a:r>
            <a:r>
              <a:rPr lang="zh-CN" altLang="en-US"/>
              <a:t>解压格式</a:t>
            </a:r>
            <a:r>
              <a:rPr lang="en-US" altLang="zh-CN"/>
              <a:t>:  tar -zxvf </a:t>
            </a:r>
            <a:r>
              <a:rPr lang="zh-CN" altLang="en-US"/>
              <a:t>包名</a:t>
            </a:r>
            <a:r>
              <a:rPr lang="en-US" altLang="zh-CN"/>
              <a:t>.tar.gz -C </a:t>
            </a:r>
            <a:r>
              <a:rPr lang="zh-CN" altLang="en-US"/>
              <a:t>目标位置路径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参数解释</a:t>
            </a:r>
            <a:r>
              <a:rPr lang="en-US" altLang="zh-CN"/>
              <a:t>:</a:t>
            </a:r>
            <a:endParaRPr lang="en-US" altLang="zh-CN"/>
          </a:p>
          <a:p>
            <a:pPr indent="457200"/>
            <a:r>
              <a:rPr lang="en-US" altLang="zh-CN"/>
              <a:t>-c</a:t>
            </a:r>
            <a:r>
              <a:rPr lang="zh-CN" altLang="en-US"/>
              <a:t>，创建压缩文件，用于压缩模式</a:t>
            </a:r>
            <a:endParaRPr lang="zh-CN" altLang="en-US"/>
          </a:p>
          <a:p>
            <a:pPr indent="457200"/>
            <a:r>
              <a:rPr lang="en-US" altLang="zh-CN"/>
              <a:t>-v</a:t>
            </a:r>
            <a:r>
              <a:rPr lang="zh-CN" altLang="en-US"/>
              <a:t>，显示压缩、解压过程，用于查看进度</a:t>
            </a:r>
            <a:endParaRPr lang="zh-CN" altLang="en-US"/>
          </a:p>
          <a:p>
            <a:pPr indent="457200"/>
            <a:r>
              <a:rPr lang="en-US" altLang="zh-CN"/>
              <a:t>-x</a:t>
            </a:r>
            <a:r>
              <a:rPr lang="zh-CN" altLang="en-US"/>
              <a:t>，解压模式</a:t>
            </a:r>
            <a:endParaRPr lang="zh-CN" altLang="en-US"/>
          </a:p>
          <a:p>
            <a:pPr indent="457200"/>
            <a:r>
              <a:rPr lang="en-US" altLang="zh-CN"/>
              <a:t>-f</a:t>
            </a:r>
            <a:r>
              <a:rPr lang="zh-CN" altLang="en-US"/>
              <a:t>，要创建的文件，或要解压的文件，</a:t>
            </a:r>
            <a:r>
              <a:rPr lang="en-US" altLang="zh-CN"/>
              <a:t>-f</a:t>
            </a:r>
            <a:r>
              <a:rPr lang="zh-CN" altLang="en-US"/>
              <a:t>选项必须在所有选项中位置处于最后一个</a:t>
            </a:r>
            <a:endParaRPr lang="zh-CN" altLang="en-US"/>
          </a:p>
          <a:p>
            <a:pPr indent="457200"/>
            <a:r>
              <a:rPr lang="en-US" altLang="zh-CN">
                <a:solidFill>
                  <a:srgbClr val="C00000"/>
                </a:solidFill>
              </a:rPr>
              <a:t>-z</a:t>
            </a:r>
            <a:r>
              <a:rPr lang="zh-CN" altLang="en-US">
                <a:solidFill>
                  <a:srgbClr val="C00000"/>
                </a:solidFill>
              </a:rPr>
              <a:t>，</a:t>
            </a:r>
            <a:r>
              <a:rPr lang="en-US" altLang="zh-CN">
                <a:solidFill>
                  <a:srgbClr val="C00000"/>
                </a:solidFill>
              </a:rPr>
              <a:t>gzip</a:t>
            </a:r>
            <a:r>
              <a:rPr lang="zh-CN" altLang="en-US">
                <a:solidFill>
                  <a:srgbClr val="C00000"/>
                </a:solidFill>
              </a:rPr>
              <a:t>模式，不使用</a:t>
            </a:r>
            <a:r>
              <a:rPr lang="en-US" altLang="zh-CN">
                <a:solidFill>
                  <a:srgbClr val="C00000"/>
                </a:solidFill>
              </a:rPr>
              <a:t>-z</a:t>
            </a:r>
            <a:r>
              <a:rPr lang="zh-CN" altLang="en-US">
                <a:solidFill>
                  <a:srgbClr val="C00000"/>
                </a:solidFill>
              </a:rPr>
              <a:t>就是普通的</a:t>
            </a:r>
            <a:r>
              <a:rPr lang="en-US" altLang="zh-CN">
                <a:solidFill>
                  <a:srgbClr val="C00000"/>
                </a:solidFill>
              </a:rPr>
              <a:t>tarball</a:t>
            </a:r>
            <a:r>
              <a:rPr lang="zh-CN" altLang="en-US">
                <a:solidFill>
                  <a:srgbClr val="C00000"/>
                </a:solidFill>
              </a:rPr>
              <a:t>格式</a:t>
            </a:r>
            <a:endParaRPr lang="zh-CN" altLang="en-US">
              <a:solidFill>
                <a:srgbClr val="C00000"/>
              </a:solidFill>
            </a:endParaRPr>
          </a:p>
          <a:p>
            <a:pPr indent="457200"/>
            <a:r>
              <a:rPr lang="en-US" altLang="zh-CN"/>
              <a:t>-C</a:t>
            </a:r>
            <a:r>
              <a:rPr lang="zh-CN" altLang="en-US"/>
              <a:t>，选择解压的目的地，用于解压模式</a:t>
            </a:r>
            <a:endParaRPr lang="zh-CN" altLang="en-US"/>
          </a:p>
        </p:txBody>
      </p:sp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计算机概述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操作系统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/>
              <a:t>VMware</a:t>
            </a:r>
            <a:r>
              <a:rPr lang="zh-CN" altLang="en-US" dirty="0">
                <a:solidFill>
                  <a:schemeClr val="tx1"/>
                </a:solidFill>
              </a:rPr>
              <a:t>虚拟机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Finallshell</a:t>
            </a:r>
            <a:r>
              <a:rPr lang="zh-CN" altLang="en-US" dirty="0">
                <a:solidFill>
                  <a:schemeClr val="tx1"/>
                </a:solidFill>
              </a:rPr>
              <a:t>客户端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Linux</a:t>
            </a:r>
            <a:r>
              <a:rPr lang="zh-CN" altLang="en-US" dirty="0">
                <a:solidFill>
                  <a:schemeClr val="tx1"/>
                </a:solidFill>
              </a:rPr>
              <a:t>常用基础命令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vi/vim</a:t>
            </a:r>
            <a:r>
              <a:rPr lang="zh-CN" altLang="en-US" dirty="0">
                <a:solidFill>
                  <a:srgbClr val="C00000"/>
                </a:solidFill>
              </a:rPr>
              <a:t>文本编辑器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vi</a:t>
            </a:r>
            <a:r>
              <a:rPr lang="zh-CN" altLang="en-US" dirty="0"/>
              <a:t>是一款很多</a:t>
            </a:r>
            <a:r>
              <a:rPr lang="en-US" altLang="zh-CN" dirty="0"/>
              <a:t>unix</a:t>
            </a:r>
            <a:r>
              <a:rPr lang="zh-CN" altLang="en-US" dirty="0"/>
              <a:t>及其延伸系统内置的</a:t>
            </a:r>
            <a:r>
              <a:rPr lang="zh-CN" altLang="en-US" dirty="0">
                <a:solidFill>
                  <a:srgbClr val="AD2B26"/>
                </a:solidFill>
              </a:rPr>
              <a:t>文本编辑器</a:t>
            </a:r>
            <a:r>
              <a:rPr lang="zh-CN" altLang="en-US" dirty="0"/>
              <a:t>，具有强大的文本编辑能力。</a:t>
            </a:r>
            <a:endParaRPr lang="en-US" altLang="zh-CN" dirty="0"/>
          </a:p>
          <a:p>
            <a:r>
              <a:rPr lang="en-US" altLang="zh-CN" dirty="0">
                <a:solidFill>
                  <a:srgbClr val="AD2B26"/>
                </a:solidFill>
              </a:rPr>
              <a:t>vim</a:t>
            </a:r>
            <a:r>
              <a:rPr lang="zh-CN" altLang="en-US" dirty="0"/>
              <a:t>是从</a:t>
            </a:r>
            <a:r>
              <a:rPr lang="en-US" altLang="zh-CN" dirty="0"/>
              <a:t>vi</a:t>
            </a:r>
            <a:r>
              <a:rPr lang="zh-CN" altLang="en-US" dirty="0"/>
              <a:t>发展出来的一个文本编辑器，可以理解为</a:t>
            </a:r>
            <a:r>
              <a:rPr lang="en-US" altLang="zh-CN" dirty="0">
                <a:solidFill>
                  <a:srgbClr val="AD2B26"/>
                </a:solidFill>
              </a:rPr>
              <a:t>vi</a:t>
            </a:r>
            <a:r>
              <a:rPr lang="zh-CN" altLang="en-US" dirty="0">
                <a:solidFill>
                  <a:srgbClr val="AD2B26"/>
                </a:solidFill>
              </a:rPr>
              <a:t>编辑器的增强版</a:t>
            </a:r>
            <a:r>
              <a:rPr lang="zh-CN" altLang="en-US" dirty="0"/>
              <a:t>。</a:t>
            </a:r>
            <a:r>
              <a:rPr lang="en-US" altLang="zh-CN" dirty="0"/>
              <a:t>vim</a:t>
            </a:r>
            <a:r>
              <a:rPr lang="zh-CN" altLang="en-US" dirty="0"/>
              <a:t>中代码补完、编译及错误跳转等方便编程的功能特别丰富。</a:t>
            </a:r>
            <a:endParaRPr lang="en-US" altLang="zh-CN" dirty="0"/>
          </a:p>
          <a:p>
            <a:r>
              <a:rPr lang="en-US" altLang="zh-CN" dirty="0"/>
              <a:t>vi/vim</a:t>
            </a:r>
            <a:r>
              <a:rPr lang="zh-CN" altLang="en-US" dirty="0"/>
              <a:t>编辑器的核心设计思想：让程序员的手指始终保持在键盘的核心区域</a:t>
            </a:r>
            <a:r>
              <a:rPr lang="en-US" altLang="zh-CN" dirty="0"/>
              <a:t>, </a:t>
            </a:r>
            <a:r>
              <a:rPr lang="zh-CN" altLang="en-US" dirty="0"/>
              <a:t>就能完成所有的编辑操作。</a:t>
            </a:r>
            <a:endParaRPr lang="en-US" altLang="zh-CN" dirty="0"/>
          </a:p>
          <a:p>
            <a:r>
              <a:rPr lang="zh-CN" altLang="en-US" dirty="0"/>
              <a:t>学习使用</a:t>
            </a:r>
            <a:r>
              <a:rPr lang="en-US" altLang="zh-CN" dirty="0"/>
              <a:t>vi/vim</a:t>
            </a:r>
            <a:r>
              <a:rPr lang="zh-CN" altLang="en-US" dirty="0"/>
              <a:t>编辑器最大挑战：</a:t>
            </a:r>
            <a:r>
              <a:rPr lang="zh-CN" altLang="en-US" dirty="0">
                <a:solidFill>
                  <a:srgbClr val="AD2B26"/>
                </a:solidFill>
              </a:rPr>
              <a:t>万物皆命令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简介</a:t>
            </a:r>
            <a:endParaRPr lang="zh-CN" altLang="en-US" dirty="0"/>
          </a:p>
        </p:txBody>
      </p:sp>
      <p:pic>
        <p:nvPicPr>
          <p:cNvPr id="21506" name="Picture 2" descr="https://www.runoob.com/wp-content/uploads/2015/10/vi-vim-cheat-sheet-sch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44" y="3755920"/>
            <a:ext cx="5364069" cy="290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D2B26"/>
                </a:solidFill>
              </a:rPr>
              <a:t>命令</a:t>
            </a:r>
            <a:r>
              <a:rPr lang="zh-CN" altLang="en-US" dirty="0"/>
              <a:t>模式（</a:t>
            </a:r>
            <a:r>
              <a:rPr lang="en-US" altLang="zh-CN" dirty="0"/>
              <a:t>Command mode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命令模式下，所敲的按键编辑器都理解为命令，以命令驱动执行不同的功能。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此模型下，不能自由进行文本编辑。</a:t>
            </a:r>
            <a:endParaRPr lang="en-US" altLang="zh-CN" dirty="0"/>
          </a:p>
          <a:p>
            <a:r>
              <a:rPr lang="zh-CN" altLang="en-US" dirty="0">
                <a:solidFill>
                  <a:srgbClr val="AD2B26"/>
                </a:solidFill>
              </a:rPr>
              <a:t>输入</a:t>
            </a:r>
            <a:r>
              <a:rPr lang="zh-CN" altLang="en-US" dirty="0"/>
              <a:t>模式（</a:t>
            </a:r>
            <a:r>
              <a:rPr lang="en-US" altLang="zh-CN" dirty="0"/>
              <a:t>Insert mode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也就是所谓的编辑模式、插入模式。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此模式下，可以对文件内容进行自由编辑。</a:t>
            </a:r>
            <a:endParaRPr lang="en-US" altLang="zh-CN" dirty="0"/>
          </a:p>
          <a:p>
            <a:r>
              <a:rPr lang="zh-CN" altLang="en-US" dirty="0">
                <a:solidFill>
                  <a:srgbClr val="AD2B26"/>
                </a:solidFill>
              </a:rPr>
              <a:t>底线命令</a:t>
            </a:r>
            <a:r>
              <a:rPr lang="zh-CN" altLang="en-US" dirty="0"/>
              <a:t>模式（</a:t>
            </a:r>
            <a:r>
              <a:rPr lang="en-US" altLang="zh-CN" dirty="0"/>
              <a:t>Last line mode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以：开始，通常用于文件的保存、退出。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种工作模式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255" y="2601595"/>
            <a:ext cx="4832985" cy="246634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/>
              <a:t>1. </a:t>
            </a:r>
            <a:r>
              <a:rPr lang="zh-CN" altLang="en-US"/>
              <a:t>什么是</a:t>
            </a:r>
            <a:r>
              <a:rPr lang="en-US" altLang="zh-CN"/>
              <a:t>vi/vim</a:t>
            </a:r>
            <a:r>
              <a:rPr lang="zh-CN" altLang="en-US"/>
              <a:t>编辑器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vi\vim</a:t>
            </a:r>
            <a:r>
              <a:rPr lang="zh-CN" altLang="en-US" sz="1400"/>
              <a:t>编辑器，就是命令行模式下的文本编辑器，用来编辑文件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vim</a:t>
            </a:r>
            <a:r>
              <a:rPr lang="zh-CN" altLang="en-US" sz="1400"/>
              <a:t>是</a:t>
            </a:r>
            <a:r>
              <a:rPr lang="en-US" altLang="zh-CN" sz="1400"/>
              <a:t>vi</a:t>
            </a:r>
            <a:r>
              <a:rPr lang="zh-CN" altLang="en-US" sz="1400"/>
              <a:t>的升级版，一般用</a:t>
            </a:r>
            <a:r>
              <a:rPr lang="en-US" altLang="zh-CN" sz="1400"/>
              <a:t>vim</a:t>
            </a:r>
            <a:r>
              <a:rPr lang="zh-CN" altLang="en-US" sz="1400"/>
              <a:t>即可，包含全部</a:t>
            </a:r>
            <a:r>
              <a:rPr lang="en-US" altLang="zh-CN" sz="1400"/>
              <a:t>vi</a:t>
            </a:r>
            <a:r>
              <a:rPr lang="zh-CN" altLang="en-US" sz="1400"/>
              <a:t>功能</a:t>
            </a:r>
            <a:endParaRPr lang="zh-CN" altLang="en-US" sz="140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 </a:t>
            </a:r>
            <a:r>
              <a:rPr lang="zh-CN" altLang="en-US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基础命令</a:t>
            </a:r>
            <a:endParaRPr lang="zh-CN" altLang="en-US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400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40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 </a:t>
            </a:r>
            <a:r>
              <a:rPr lang="zh-CN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运行模式</a:t>
            </a: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命令模式，默认的模式，可以通过键盘快捷键控制文件内容</a:t>
            </a: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输入模式，通过命令模式进入，可以输入内容进行编辑，按</a:t>
            </a:r>
            <a:r>
              <a:rPr lang="en-US" altLang="zh-CN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esc</a:t>
            </a: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退回命令模式</a:t>
            </a: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底线命令模式，通过命令模式进入，可以对文件进行保存、关闭等操作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0520" y="3338830"/>
            <a:ext cx="1133475" cy="46672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1.70472440944886,&quot;left&quot;:133.55929133858268,&quot;top&quot;:195.58574803149605,&quot;width&quot;:650.4526771653543}"/>
</p:tagLst>
</file>

<file path=ppt/tags/tag2.xml><?xml version="1.0" encoding="utf-8"?>
<p:tagLst xmlns:p="http://schemas.openxmlformats.org/presentationml/2006/main">
  <p:tag name="KSO_WM_DIAGRAM_VIRTUALLY_FRAME" val="{&quot;height&quot;:231.70472440944886,&quot;left&quot;:133.55929133858268,&quot;top&quot;:195.58574803149605,&quot;width&quot;:650.4526771653543}"/>
</p:tagLst>
</file>

<file path=ppt/tags/tag3.xml><?xml version="1.0" encoding="utf-8"?>
<p:tagLst xmlns:p="http://schemas.openxmlformats.org/presentationml/2006/main">
  <p:tag name="KSO_WM_DIAGRAM_VIRTUALLY_FRAME" val="{&quot;height&quot;:231.70472440944886,&quot;left&quot;:133.55929133858268,&quot;top&quot;:195.58574803149605,&quot;width&quot;:650.4526771653543}"/>
</p:tagLst>
</file>

<file path=ppt/tags/tag4.xml><?xml version="1.0" encoding="utf-8"?>
<p:tagLst xmlns:p="http://schemas.openxmlformats.org/presentationml/2006/main">
  <p:tag name="KSO_WM_DIAGRAM_VIRTUALLY_FRAME" val="{&quot;height&quot;:231.70472440944886,&quot;left&quot;:133.55929133858268,&quot;top&quot;:195.58574803149605,&quot;width&quot;:650.4526771653543}"/>
</p:tagLst>
</file>

<file path=ppt/tags/tag5.xml><?xml version="1.0" encoding="utf-8"?>
<p:tagLst xmlns:p="http://schemas.openxmlformats.org/presentationml/2006/main">
  <p:tag name="KSO_WM_DIAGRAM_VIRTUALLY_FRAME" val="{&quot;height&quot;:231.70472440944886,&quot;left&quot;:133.55929133858268,&quot;top&quot;:195.58574803149605,&quot;width&quot;:650.4526771653543}"/>
</p:tagLst>
</file>

<file path=ppt/tags/tag6.xml><?xml version="1.0" encoding="utf-8"?>
<p:tagLst xmlns:p="http://schemas.openxmlformats.org/presentationml/2006/main">
  <p:tag name="KSO_WM_DIAGRAM_VIRTUALLY_FRAME" val="{&quot;height&quot;:231.70472440944886,&quot;left&quot;:133.55929133858268,&quot;top&quot;:195.58574803149605,&quot;width&quot;:650.4526771653543}"/>
</p:tagLst>
</file>

<file path=ppt/tags/tag7.xml><?xml version="1.0" encoding="utf-8"?>
<p:tagLst xmlns:p="http://schemas.openxmlformats.org/presentationml/2006/main">
  <p:tag name="KSO_WM_UNIT_TABLE_BEAUTIFY" val="smartTable{4d7e5d61-a2c6-4053-b74d-3dd6d332a1ce}"/>
  <p:tag name="TABLE_ENDDRAG_ORIGIN_RECT" val="824*431"/>
  <p:tag name="TABLE_ENDDRAG_RECT" val="44*71*824*431"/>
</p:tagLst>
</file>

<file path=ppt/tags/tag8.xml><?xml version="1.0" encoding="utf-8"?>
<p:tagLst xmlns:p="http://schemas.openxmlformats.org/presentationml/2006/main">
  <p:tag name="COMMONDATA" val="eyJoZGlkIjoiZjFlMjg2MmYxODM4Yjk5ZDc5MGVmYjg0M2JjYjM0MTgifQ=="/>
  <p:tag name="KSO_WPP_MARK_KEY" val="216ea374-5a2a-4dbc-86e3-012f022b80e2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2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2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2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2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2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3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3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3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3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3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3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3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3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3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4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4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7898</Words>
  <Application>WPS 演示</Application>
  <PresentationFormat>宽屏</PresentationFormat>
  <Paragraphs>687</Paragraphs>
  <Slides>86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51</vt:i4>
      </vt:variant>
      <vt:variant>
        <vt:lpstr>幻灯片标题</vt:lpstr>
      </vt:variant>
      <vt:variant>
        <vt:i4>86</vt:i4>
      </vt:variant>
    </vt:vector>
  </HeadingPairs>
  <TitlesOfParts>
    <vt:vector size="157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华文楷体</vt:lpstr>
      <vt:lpstr>Arial Unicode MS</vt:lpstr>
      <vt:lpstr>等线</vt:lpstr>
      <vt:lpstr>纤黑体</vt:lpstr>
      <vt:lpstr>Alibaba PuHuiTi Bold</vt:lpstr>
      <vt:lpstr>Calibri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3_学习目标</vt:lpstr>
      <vt:lpstr>4_学习目标</vt:lpstr>
      <vt:lpstr>5_学习目标</vt:lpstr>
      <vt:lpstr>6_学习目标</vt:lpstr>
      <vt:lpstr>7_学习目标</vt:lpstr>
      <vt:lpstr>1_正文设计方案</vt:lpstr>
      <vt:lpstr>8_学习目标</vt:lpstr>
      <vt:lpstr>9_学习目标</vt:lpstr>
      <vt:lpstr>10_学习目标</vt:lpstr>
      <vt:lpstr>2_正文设计方案</vt:lpstr>
      <vt:lpstr>11_学习目标</vt:lpstr>
      <vt:lpstr>12_学习目标</vt:lpstr>
      <vt:lpstr>13_学习目标</vt:lpstr>
      <vt:lpstr>14_学习目标</vt:lpstr>
      <vt:lpstr>15_学习目标</vt:lpstr>
      <vt:lpstr>3_正文设计方案</vt:lpstr>
      <vt:lpstr>16_学习目标</vt:lpstr>
      <vt:lpstr>17_学习目标</vt:lpstr>
      <vt:lpstr>18_学习目标</vt:lpstr>
      <vt:lpstr>19_学习目标</vt:lpstr>
      <vt:lpstr>20_学习目标</vt:lpstr>
      <vt:lpstr>21_学习目标</vt:lpstr>
      <vt:lpstr>22_学习目标</vt:lpstr>
      <vt:lpstr>23_学习目标</vt:lpstr>
      <vt:lpstr>24_学习目标</vt:lpstr>
      <vt:lpstr>25_学习目标</vt:lpstr>
      <vt:lpstr>26_学习目标</vt:lpstr>
      <vt:lpstr>27_学习目标</vt:lpstr>
      <vt:lpstr>28_学习目标</vt:lpstr>
      <vt:lpstr>29_学习目标</vt:lpstr>
      <vt:lpstr>30_学习目标</vt:lpstr>
      <vt:lpstr>31_学习目标</vt:lpstr>
      <vt:lpstr>32_学习目标</vt:lpstr>
      <vt:lpstr>33_学习目标</vt:lpstr>
      <vt:lpstr>34_学习目标</vt:lpstr>
      <vt:lpstr>35_学习目标</vt:lpstr>
      <vt:lpstr>36_学习目标</vt:lpstr>
      <vt:lpstr>37_学习目标</vt:lpstr>
      <vt:lpstr>38_学习目标</vt:lpstr>
      <vt:lpstr>39_学习目标</vt:lpstr>
      <vt:lpstr>40_学习目标</vt:lpstr>
      <vt:lpstr>41_学习目标</vt:lpstr>
      <vt:lpstr>Linux环境和Linux命令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1447</cp:revision>
  <dcterms:created xsi:type="dcterms:W3CDTF">2022-04-23T05:57:00Z</dcterms:created>
  <dcterms:modified xsi:type="dcterms:W3CDTF">2026-04-11T10:31:12Z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2052-12.1.0.25225</vt:lpwstr>
  </property>
  <property fmtid="{D5CDD505-2E9C-101B-9397-08002B2CF9AE}" pid="4" name="commondata">
    <vt:lpwstr>eyJoZGlkIjoiMDAzZmIwZjU2YjM3ZmIyZjYxNWQ1NTViMjdhYzBlM2EifQ==</vt:lpwstr>
  </property>
</Properties>
</file>